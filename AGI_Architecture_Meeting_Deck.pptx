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9468e4943f4f23" /><Relationship Type="http://schemas.openxmlformats.org/officeDocument/2006/relationships/extended-properties" Target="/docProps/app.xml" Id="R886b2360711d4f40" /><Relationship Type="http://schemas.openxmlformats.org/officeDocument/2006/relationships/officeDocument" Target="/ppt/presentation.xml" Id="R615422c2b96a4b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c658c6c7e04add"/>
  </p:sldMasterIdLst>
  <p:notesMasterIdLst>
    <p:notesMasterId xmlns:r="http://schemas.openxmlformats.org/officeDocument/2006/relationships" r:id="R8ede5b2d3e4e478e"/>
  </p:notesMasterIdLst>
  <p:sldIdLst>
    <p:sldId xmlns:r="http://schemas.openxmlformats.org/officeDocument/2006/relationships" id="256" r:id="Rf134d49b45b54860"/>
    <p:sldId xmlns:r="http://schemas.openxmlformats.org/officeDocument/2006/relationships" id="257" r:id="Rf8ed89991f854e29"/>
    <p:sldId xmlns:r="http://schemas.openxmlformats.org/officeDocument/2006/relationships" id="258" r:id="Rd45c741efcb14bb8"/>
    <p:sldId xmlns:r="http://schemas.openxmlformats.org/officeDocument/2006/relationships" id="259" r:id="R234e5da6067a4249"/>
    <p:sldId xmlns:r="http://schemas.openxmlformats.org/officeDocument/2006/relationships" id="260" r:id="R7e61710af4ae45e8"/>
    <p:sldId xmlns:r="http://schemas.openxmlformats.org/officeDocument/2006/relationships" id="261" r:id="R8eeaabc7b57045a7"/>
    <p:sldId xmlns:r="http://schemas.openxmlformats.org/officeDocument/2006/relationships" id="262" r:id="R8d5d353192c84900"/>
    <p:sldId xmlns:r="http://schemas.openxmlformats.org/officeDocument/2006/relationships" id="263" r:id="Raa62a628c24b4907"/>
    <p:sldId xmlns:r="http://schemas.openxmlformats.org/officeDocument/2006/relationships" id="264" r:id="R8fa1c702a33145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287dce22e74915" /><Relationship Type="http://schemas.openxmlformats.org/officeDocument/2006/relationships/slideMaster" Target="/ppt/slideMasters/slideMaster1.xml" Id="R32c658c6c7e04add" /><Relationship Type="http://schemas.openxmlformats.org/officeDocument/2006/relationships/notesMaster" Target="/ppt/notesMasters/notesMaster1.xml" Id="R8ede5b2d3e4e478e" /><Relationship Type="http://schemas.openxmlformats.org/officeDocument/2006/relationships/presProps" Target="/ppt/presProps.xml" Id="R7a782ef5ca094e11" /><Relationship Type="http://schemas.openxmlformats.org/officeDocument/2006/relationships/tableStyles" Target="/ppt/tableStyles.xml" Id="Ra7e6fdc23c8448b2" /><Relationship Type="http://schemas.openxmlformats.org/officeDocument/2006/relationships/slide" Target="/ppt/slides/slide1.xml" Id="Rf134d49b45b54860" /><Relationship Type="http://schemas.openxmlformats.org/officeDocument/2006/relationships/slide" Target="/ppt/slides/slide2.xml" Id="Rf8ed89991f854e29" /><Relationship Type="http://schemas.openxmlformats.org/officeDocument/2006/relationships/slide" Target="/ppt/slides/slide3.xml" Id="Rd45c741efcb14bb8" /><Relationship Type="http://schemas.openxmlformats.org/officeDocument/2006/relationships/slide" Target="/ppt/slides/slide4.xml" Id="R234e5da6067a4249" /><Relationship Type="http://schemas.openxmlformats.org/officeDocument/2006/relationships/slide" Target="/ppt/slides/slide5.xml" Id="R7e61710af4ae45e8" /><Relationship Type="http://schemas.openxmlformats.org/officeDocument/2006/relationships/slide" Target="/ppt/slides/slide6.xml" Id="R8eeaabc7b57045a7" /><Relationship Type="http://schemas.openxmlformats.org/officeDocument/2006/relationships/slide" Target="/ppt/slides/slide7.xml" Id="R8d5d353192c84900" /><Relationship Type="http://schemas.openxmlformats.org/officeDocument/2006/relationships/slide" Target="/ppt/slides/slide8.xml" Id="Raa62a628c24b4907" /><Relationship Type="http://schemas.openxmlformats.org/officeDocument/2006/relationships/slide" Target="/ppt/slides/slide9.xml" Id="R8fa1c702a33145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7975f1cb684a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GI Clean">
      <a:dk1>
        <a:srgbClr val="000000"/>
      </a:dk1>
      <a:lt1>
        <a:srgbClr val="FFFFFF"/>
      </a:lt1>
      <a:dk2>
        <a:srgbClr val="0D1B2A"/>
      </a:dk2>
      <a:lt2>
        <a:srgbClr val="EEF3F7"/>
      </a:lt2>
      <a:accent1>
        <a:srgbClr val="3D8DFF"/>
      </a:accent1>
      <a:accent2>
        <a:srgbClr val="1F9D7A"/>
      </a:accent2>
      <a:accent3>
        <a:srgbClr val="C47B12"/>
      </a:accent3>
      <a:accent4>
        <a:srgbClr val="B94A48"/>
      </a:accent4>
      <a:accent5>
        <a:srgbClr val="6DCBF4"/>
      </a:accent5>
      <a:accent6>
        <a:srgbClr val="7C5CFC"/>
      </a:accent6>
      <a:hlink>
        <a:srgbClr val="3D8DFF"/>
      </a:hlink>
      <a:folHlink>
        <a:srgbClr val="7C5CF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GI Clea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03b6abcfe24b6d" /><Relationship Type="http://schemas.openxmlformats.org/officeDocument/2006/relationships/notesMaster" Target="/ppt/notesMasters/notesMaster1.xml" Id="Rc6c3cd979bc247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e417a9209548cd" /><Relationship Type="http://schemas.openxmlformats.org/officeDocument/2006/relationships/notesMaster" Target="/ppt/notesMasters/notesMaster1.xml" Id="R96039fb4b9fe43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3b3c860b7042f0" /><Relationship Type="http://schemas.openxmlformats.org/officeDocument/2006/relationships/notesMaster" Target="/ppt/notesMasters/notesMaster1.xml" Id="Rd7c39f51ffc344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8ad7562b444304" /><Relationship Type="http://schemas.openxmlformats.org/officeDocument/2006/relationships/notesMaster" Target="/ppt/notesMasters/notesMaster1.xml" Id="R163c0315d2c645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d5b6c237cc44b5" /><Relationship Type="http://schemas.openxmlformats.org/officeDocument/2006/relationships/notesMaster" Target="/ppt/notesMasters/notesMaster1.xml" Id="Re57dc9caa0bb46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6ad8b0ba8449a7" /><Relationship Type="http://schemas.openxmlformats.org/officeDocument/2006/relationships/notesMaster" Target="/ppt/notesMasters/notesMaster1.xml" Id="Ra1e7a1ee8b4f41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229daaa44b48c9" /><Relationship Type="http://schemas.openxmlformats.org/officeDocument/2006/relationships/notesMaster" Target="/ppt/notesMasters/notesMaster1.xml" Id="R307d59fbb98742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da973744644733" /><Relationship Type="http://schemas.openxmlformats.org/officeDocument/2006/relationships/notesMaster" Target="/ppt/notesMasters/notesMaster1.xml" Id="R53dd807c03c545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58ef400d154ef3" /><Relationship Type="http://schemas.openxmlformats.org/officeDocument/2006/relationships/notesMaster" Target="/ppt/notesMasters/notesMaster1.xml" Id="Rb0ad7f3bafc94b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Konuşma notu: Ürünü bir dashboard değil, şirket bilgisini kanıta dayalı kararlara dönüştüren yönetilebilir agent runtime olarak konumlandırın.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 analysis: docs/SYSTEM_ARCHITECTURE.md; docs/IMPLEMENTATION_STATUS.md; docs/RELEASE_CHECKLIST.md</a:t>
            </a:r>
          </a:p>
          <a:p xmlns:a="http://schemas.openxmlformats.org/drawingml/2006/main">
            <a:r>
              <a:t>- Implementation evidence: apps/api/agi_server/workflow/persistent_runtime.py; apps/services/ai-agent/ai_agent/graph.py; docker-compose.yml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Konuşma notu: Bu dört unsur ürünün web yüzeyinden bağımsız çekirdeğidir. UI bunları işletmek ve gözlemlemek için vardır.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 analysis: docs/SYSTEM_ARCHITECTURE.md; docs/IMPLEMENTATION_STATUS.md; docs/RELEASE_CHECKLIST.md</a:t>
            </a:r>
          </a:p>
          <a:p xmlns:a="http://schemas.openxmlformats.org/drawingml/2006/main">
            <a:r>
              <a:t>- Implementation evidence: apps/api/agi_server/workflow/persistent_runtime.py; apps/services/ai-agent/ai_agent/graph.py; docker-compose.yml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Konuşma notu: Bu bir kalite yargısı değil, çalışma yolu gözlemidir. Aktif API custom runtime’a gider; LangGraph ve Chroma kod tabanında ayrı konumdadır.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 analysis: docs/SYSTEM_ARCHITECTURE.md; docs/IMPLEMENTATION_STATUS.md; docs/RELEASE_CHECKLIST.md</a:t>
            </a:r>
          </a:p>
          <a:p xmlns:a="http://schemas.openxmlformats.org/drawingml/2006/main">
            <a:r>
              <a:t>- Implementation evidence: apps/api/agi_server/workflow/persistent_runtime.py; apps/services/ai-agent/ai_agent/graph.py; docker-compose.yml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Konuşma notu: Pydantic AI agentların şemalı giriş/çıkış ve tool sınırlarını tanımlar. Mevcut sıralama custom runtime tarafından yönetilir.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 analysis: docs/SYSTEM_ARCHITECTURE.md; docs/IMPLEMENTATION_STATUS.md; docs/RELEASE_CHECKLIST.md</a:t>
            </a:r>
          </a:p>
          <a:p xmlns:a="http://schemas.openxmlformats.org/drawingml/2006/main">
            <a:r>
              <a:t>- Implementation evidence: apps/api/agi_server/workflow/persistent_runtime.py; apps/services/ai-agent/ai_agent/graph.py; docker-compose.yml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Konuşma notu: Unified hedef, kanıt / OKF / approval modelini korur. Değişen temel konu runtime merkezinin LangGraph’a taşınmasıdır.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 analysis: docs/SYSTEM_ARCHITECTURE.md; docs/IMPLEMENTATION_STATUS.md; docs/RELEASE_CHECKLIST.md</a:t>
            </a:r>
          </a:p>
          <a:p xmlns:a="http://schemas.openxmlformats.org/drawingml/2006/main">
            <a:r>
              <a:t>- Implementation evidence: apps/api/agi_server/workflow/persistent_runtime.py; apps/services/ai-agent/ai_agent/graph.py; docker-compose.yml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Konuşma notu: Katmanların sorumluluğu netleşir. LangGraph stateful workflow omurgasıdır; Pydantic AI yalnızca agent node davranışını taşır; kalıcı gerçeklik PostgreSQL/OKF’dedir.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 analysis: docs/SYSTEM_ARCHITECTURE.md; docs/IMPLEMENTATION_STATUS.md; docs/RELEASE_CHECKLIST.md</a:t>
            </a:r>
          </a:p>
          <a:p xmlns:a="http://schemas.openxmlformats.org/drawingml/2006/main">
            <a:r>
              <a:t>- Implementation evidence: apps/api/agi_server/workflow/persistent_runtime.py; apps/services/ai-agent/ai_agent/graph.py; docker-compose.yml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Konuşma notu: Özellikle LangGraph ve Pydantic AI’ı karşılaştırmak yerine tamamlayıcı sorumluluklar olarak anlatın: birincisi workflow, ikincisi agent sözleşmesi.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 analysis: docs/SYSTEM_ARCHITECTURE.md; docs/IMPLEMENTATION_STATUS.md; docs/RELEASE_CHECKLIST.md</a:t>
            </a:r>
          </a:p>
          <a:p xmlns:a="http://schemas.openxmlformats.org/drawingml/2006/main">
            <a:r>
              <a:t>- Implementation evidence: apps/api/agi_server/workflow/persistent_runtime.py; apps/services/ai-agent/ai_agent/graph.py; docker-compose.yml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Konuşma notu: Roadmap’ın koruyucu kuralı: hiçbir faz broken state bırakmaz. İlk hedefi davranış eşitliği, sonra fonksiyon genişletme olarak anlatın.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 analysis: docs/SYSTEM_ARCHITECTURE.md; docs/IMPLEMENTATION_STATUS.md; docs/RELEASE_CHECKLIST.md</a:t>
            </a:r>
          </a:p>
          <a:p xmlns:a="http://schemas.openxmlformats.org/drawingml/2006/main">
            <a:r>
              <a:t>- Implementation evidence: apps/api/agi_server/workflow/persistent_runtime.py; apps/services/ai-agent/ai_agent/graph.py; docker-compose.yml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Konuşma notu: Kapanışta hedefi tek cümlede özetleyin: mevcut kanıt ve onay gücünü koruyup bunu dayanıklı, gözlemlenebilir agent runtime üzerine oturtmak.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 analysis: docs/SYSTEM_ARCHITECTURE.md; docs/IMPLEMENTATION_STATUS.md; docs/RELEASE_CHECKLIST.md</a:t>
            </a:r>
          </a:p>
          <a:p xmlns:a="http://schemas.openxmlformats.org/drawingml/2006/main">
            <a:r>
              <a:t>- Implementation evidence: apps/api/agi_server/workflow/persistent_runtime.py; apps/services/ai-agent/ai_agent/graph.py; docker-compose.yml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b1cdcb3b0240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75dcc231e444bc" /><Relationship Type="http://schemas.openxmlformats.org/officeDocument/2006/relationships/slideLayout" Target="/ppt/slideLayouts/slideLayout1.xml" Id="R5efae4f2268943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fae4f2268943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GI Clean">
      <a:dk1>
        <a:srgbClr val="000000"/>
      </a:dk1>
      <a:lt1>
        <a:srgbClr val="FFFFFF"/>
      </a:lt1>
      <a:dk2>
        <a:srgbClr val="0D1B2A"/>
      </a:dk2>
      <a:lt2>
        <a:srgbClr val="EEF3F7"/>
      </a:lt2>
      <a:accent1>
        <a:srgbClr val="3D8DFF"/>
      </a:accent1>
      <a:accent2>
        <a:srgbClr val="1F9D7A"/>
      </a:accent2>
      <a:accent3>
        <a:srgbClr val="C47B12"/>
      </a:accent3>
      <a:accent4>
        <a:srgbClr val="B94A48"/>
      </a:accent4>
      <a:accent5>
        <a:srgbClr val="6DCBF4"/>
      </a:accent5>
      <a:accent6>
        <a:srgbClr val="7C5CFC"/>
      </a:accent6>
      <a:hlink>
        <a:srgbClr val="3D8DFF"/>
      </a:hlink>
      <a:folHlink>
        <a:srgbClr val="7C5CF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GI Clea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e718e604248e1" /><Relationship Type="http://schemas.openxmlformats.org/officeDocument/2006/relationships/notesSlide" Target="/ppt/notesSlides/notesSlide1.xml" Id="R23226882a8584a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b1b7b95264224" /><Relationship Type="http://schemas.openxmlformats.org/officeDocument/2006/relationships/notesSlide" Target="/ppt/notesSlides/notesSlide2.xml" Id="R742ecae6e1f942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19731f6b240db" /><Relationship Type="http://schemas.openxmlformats.org/officeDocument/2006/relationships/notesSlide" Target="/ppt/notesSlides/notesSlide3.xml" Id="Rc880538f6ec84e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f253ae6654b8c" /><Relationship Type="http://schemas.openxmlformats.org/officeDocument/2006/relationships/notesSlide" Target="/ppt/notesSlides/notesSlide4.xml" Id="Rb843dc73c9e342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e47a3f2634dd1" /><Relationship Type="http://schemas.openxmlformats.org/officeDocument/2006/relationships/notesSlide" Target="/ppt/notesSlides/notesSlide5.xml" Id="Rf7f52c72308945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a8b73913e4394" /><Relationship Type="http://schemas.openxmlformats.org/officeDocument/2006/relationships/notesSlide" Target="/ppt/notesSlides/notesSlide6.xml" Id="R506ee2425be146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431c7165d45d1" /><Relationship Type="http://schemas.openxmlformats.org/officeDocument/2006/relationships/notesSlide" Target="/ppt/notesSlides/notesSlide7.xml" Id="R979547f1a1854d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9fad0510440c4" /><Relationship Type="http://schemas.openxmlformats.org/officeDocument/2006/relationships/notesSlide" Target="/ppt/notesSlides/notesSlide8.xml" Id="R2ccf4c4a257240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11bb213a34213" /><Relationship Type="http://schemas.openxmlformats.org/officeDocument/2006/relationships/notesSlide" Target="/ppt/notesSlides/notesSlide9.xml" Id="Rccc7229207a24b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62ABAB-65E3-4BD9-8A02-D7FCC215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16177-21F9-454A-A7E3-F4F4B962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0D1B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51146-32EB-455C-A4C8-8A7F27FC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047750"/>
            <a:ext cx="24765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552"/>
          </a:solidFill>
          <a:ln xmlns:a="http://schemas.openxmlformats.org/drawingml/2006/main" w="9525">
            <a:solidFill>
              <a:srgbClr val="1635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49B33-5F25-427F-9EEF-0BC812F6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15240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783"/>
          </a:solidFill>
          <a:ln xmlns:a="http://schemas.openxmlformats.org/drawingml/2006/main" w="9525">
            <a:solidFill>
              <a:srgbClr val="24578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41F78-B8A2-4EC1-9C4B-DFED3486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812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5F846-06F0-4721-9A17-CE4A03B3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24288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ARCHITECTURE BRIEFING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03FB3-A6C6-43F0-BA67-91CD24D1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096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02033"/>
                </a:solidFill>
              </a:defRPr>
            </a:pPr>
            <a:r>
              <a:rPr sz="4200" b="1">
                <a:solidFill>
                  <a:srgbClr val="102033"/>
                </a:solidFill>
              </a:rPr>
              <a:t>Agentic Growth</a:t>
            </a:r>
          </a:p>
          <a:p xmlns:a="http://schemas.openxmlformats.org/drawingml/2006/main">
            <a:pPr>
              <a:defRPr sz="4200" b="1">
                <a:solidFill>
                  <a:srgbClr val="102033"/>
                </a:solidFill>
              </a:defRPr>
            </a:pPr>
            <a:r>
              <a:rPr sz="4200" b="1">
                <a:solidFill>
                  <a:srgbClr val="102033"/>
                </a:solidFill>
              </a:rPr>
              <a:t>Intelligence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FF106-30A0-43CA-B8F1-082FD32A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Mevcut Mimari → Hedef Agent-First Runtime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A9D4B-FB56-40E7-8921-2DF357ED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477"/>
                </a:solidFill>
              </a:defRPr>
            </a:pPr>
            <a:r>
              <a:rPr sz="1500" b="0">
                <a:solidFill>
                  <a:srgbClr val="526477"/>
                </a:solidFill>
              </a:rPr>
              <a:t>Toplantı için kısa anlatı: ürün konumu, çalışan yapı, hedef çalışma modeli ve geçiş yaklaşımı.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D2E2B-5791-4B4C-A523-7565AFBE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477"/>
                </a:solidFill>
              </a:defRPr>
            </a:pPr>
            <a:r>
              <a:rPr sz="1050" b="0">
                <a:solidFill>
                  <a:srgbClr val="526477"/>
                </a:solidFill>
              </a:rPr>
              <a:t>24 Temmuz 2026  |  Internal discussion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623CD-E098-4E70-B084-780CB395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3862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INTELLIGENCE</a:t>
            </a:r>
          </a:p>
          <a:p xmlns:a="http://schemas.openxmlformats.org/drawingml/2006/main">
            <a:pPr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IS THE RUNTIME</a:t>
            </a:r>
          </a:p>
        </p:txBody>
      </p:sp>
    </p:spTree>
    <p:extLst>
      <p:ext uri="{BB962C8B-B14F-4D97-AF65-F5344CB8AC3E}">
        <p14:creationId xmlns:p14="http://schemas.microsoft.com/office/powerpoint/2010/main" val="1855351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30F88C-D539-4CE0-B9E8-9119BBC7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ÜRÜN KONUMU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7469A-5A2A-4C8B-991B-0FD46745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33"/>
                </a:solidFill>
              </a:defRPr>
            </a:pPr>
            <a:r>
              <a:rPr sz="2550" b="1">
                <a:solidFill>
                  <a:srgbClr val="102033"/>
                </a:solidFill>
              </a:rPr>
              <a:t>Bu ürün klasik bir web uygulaması değil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24A39-D938-4EF0-89D5-DB5239F0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Web UI, intelligence engine’in kendisi değil; runtime için kontrol panelidir.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56857-1734-462E-9569-AD0B89C6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78899"/>
                </a:solidFill>
              </a:defRPr>
            </a:pPr>
            <a:r>
              <a:rPr sz="825" b="0">
                <a:solidFill>
                  <a:srgbClr val="778899"/>
                </a:solidFill>
              </a:rPr>
              <a:t>Agentic Growth Intelligence  |  Internal architecture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CE527-E65E-4C0B-8DD3-D71EBC75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78899"/>
                </a:solidFill>
              </a:defRPr>
            </a:pPr>
            <a:r>
              <a:rPr sz="825" b="1">
                <a:solidFill>
                  <a:srgbClr val="778899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A1621-4F51-413A-9A2B-3CF9F5A9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38125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FC5B1-0A53-4DDD-9694-D2B1ED42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C02B4-13C3-4CA4-AFEC-BF8D1F52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860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7DC32-B05C-45E5-805A-3200DADF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B5D1E-DB2C-4615-8E1E-907ABA74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Şirket, kaynak, rol ve görev bağlamı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6E85AF-7E2F-4C3A-B1E0-F5B4CE7E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71750"/>
            <a:ext cx="238125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F81CB6-0C91-4928-AB79-D660DDE1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003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C43799-EDF3-4AA9-9A27-BF748C68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8860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71155E-0A2C-45F6-88B6-8ED5C1B3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29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C62C6-5C4E-4A63-B992-995F6AEB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4810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İddialar ve sayılar için izlenebilir dayanak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D0EF7-1762-48D1-AD60-98CBFEC7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238125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0E7B79-FFCD-40BB-9B9D-BF92E2EF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03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53D825-9B28-4149-9C44-6480FBA0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860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9D3F13-D2BE-4DE7-B99B-497B9C24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D9739D-75EF-4B58-849B-0EB016A4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Yetki, tool sınırı ve güvenlik kuralları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8B1623-5990-4B33-A836-69E9B25F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71750"/>
            <a:ext cx="238125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A47BD9-5073-4149-ABCF-E88AD678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003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5F8390-3AEB-45CF-B4FA-88616381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8607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D4F5DB-C3FE-4D20-8D76-C3DC49E5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29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Approval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2DE33A-B67D-44C5-98A2-C0D61508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4810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77"/>
                </a:solidFill>
              </a:defRPr>
            </a:pPr>
            <a:r>
              <a:rPr sz="1200" b="0">
                <a:solidFill>
                  <a:srgbClr val="526477"/>
                </a:solidFill>
              </a:rPr>
              <a:t>Aday bilgi değişiklikleri için insan onayı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461087-44B6-4A81-8E5E-C70F5A6A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Temel ilke: her değerli çıktının kaynağı, bağlamı ve onay durumu görünür olmalı.</a:t>
            </a:r>
          </a:p>
        </p:txBody>
      </p:sp>
    </p:spTree>
    <p:extLst>
      <p:ext uri="{BB962C8B-B14F-4D97-AF65-F5344CB8AC3E}">
        <p14:creationId xmlns:p14="http://schemas.microsoft.com/office/powerpoint/2010/main" val="19867111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206E0F-DEE0-4505-AD4A-AA6099A9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BUGÜN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462C1-1FFD-4F19-8994-7D9F5C07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33"/>
                </a:solidFill>
              </a:defRPr>
            </a:pPr>
            <a:r>
              <a:rPr sz="2550" b="1">
                <a:solidFill>
                  <a:srgbClr val="102033"/>
                </a:solidFill>
              </a:rPr>
              <a:t>Mevcut çalışma yolu: sağlam veri temeli, iki ayrı execution izi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429BF-7CF0-4691-B376-955EFB62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Aktif API yolu custom persistent runtime kullanıyor; LangGraph ve Chroma ayrı servislerde bulunuyor.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09E9A-6C5B-4B72-8F94-1E87B9C8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78899"/>
                </a:solidFill>
              </a:defRPr>
            </a:pPr>
            <a:r>
              <a:rPr sz="825" b="0">
                <a:solidFill>
                  <a:srgbClr val="778899"/>
                </a:solidFill>
              </a:rPr>
              <a:t>Agentic Growth Intelligence  |  Internal architecture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921F4-099C-4C75-A984-A9C4AD80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78899"/>
                </a:solidFill>
              </a:defRPr>
            </a:pPr>
            <a:r>
              <a:rPr sz="825" b="1">
                <a:solidFill>
                  <a:srgbClr val="778899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58238-C1BF-4B85-A545-CA0A23CC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571625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CDE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Web UI</a:t>
            </a:r>
          </a:p>
          <a:p xmlns:a="http://schemas.openxmlformats.org/drawingml/2006/main">
            <a:pPr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Kontrol paneli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F93CD9-2880-4601-B012-90D723FD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57450"/>
            <a:ext cx="1762125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BFE8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FastAPI</a:t>
            </a:r>
          </a:p>
          <a:p xmlns:a="http://schemas.openxmlformats.org/drawingml/2006/main">
            <a:pPr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Control surface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01C64-4B1D-4C05-8052-196FA079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66950"/>
            <a:ext cx="20764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0D1B2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Custom persistent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workflow runtime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3D740-6540-41B4-9FAF-CBD6168A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66950"/>
            <a:ext cx="17907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Pydantic AI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 specialist agents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D05F1B-A148-4A55-AC60-50DB183D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47900"/>
            <a:ext cx="1524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9525">
            <a:solidFill>
              <a:srgbClr val="BEEA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PostgreSQL</a:t>
            </a:r>
          </a:p>
          <a:p xmlns:a="http://schemas.openxmlformats.org/drawingml/2006/main">
            <a:pPr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OKF / evidence</a:t>
            </a:r>
          </a:p>
          <a:p xmlns:a="http://schemas.openxmlformats.org/drawingml/2006/main">
            <a:pPr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artifacts</a:t>
            </a:r>
          </a:p>
        </p:txBody>
      </p: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57425" y="28289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543425" y="28289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143750" y="28289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9458325" y="2819400"/>
            <a:ext cx="523875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0B7C72-6D6C-494D-8DB6-4F2706F8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72000"/>
            <a:ext cx="238125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BBCAD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477"/>
                </a:solidFill>
              </a:defRPr>
            </a:pPr>
            <a:r>
              <a:rPr sz="1200" b="1">
                <a:solidFill>
                  <a:srgbClr val="526477"/>
                </a:solidFill>
              </a:rPr>
              <a:t>Separate LangGraph service</a:t>
            </a:r>
          </a:p>
          <a:p xmlns:a="http://schemas.openxmlformats.org/drawingml/2006/main">
            <a:pPr>
              <a:defRPr sz="1200" b="1">
                <a:solidFill>
                  <a:srgbClr val="526477"/>
                </a:solidFill>
              </a:defRPr>
            </a:pPr>
            <a:r>
              <a:rPr sz="1200" b="1">
                <a:solidFill>
                  <a:srgbClr val="526477"/>
                </a:solidFill>
              </a:rPr>
              <a:t>(deployed path değil)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B6DBAB-266A-43F5-9403-37B0D582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72000"/>
            <a:ext cx="238125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BBCAD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477"/>
                </a:solidFill>
              </a:defRPr>
            </a:pPr>
            <a:r>
              <a:rPr sz="1200" b="1">
                <a:solidFill>
                  <a:srgbClr val="526477"/>
                </a:solidFill>
              </a:rPr>
              <a:t>Separate Chroma RAG service</a:t>
            </a:r>
          </a:p>
          <a:p xmlns:a="http://schemas.openxmlformats.org/drawingml/2006/main">
            <a:pPr>
              <a:defRPr sz="1200" b="1">
                <a:solidFill>
                  <a:srgbClr val="526477"/>
                </a:solidFill>
              </a:defRPr>
            </a:pPr>
            <a:r>
              <a:rPr sz="1200" b="1">
                <a:solidFill>
                  <a:srgbClr val="526477"/>
                </a:solidFill>
              </a:rPr>
              <a:t>(aktif API yolunda değil)</a:t>
            </a:r>
          </a:p>
        </p:txBody>
      </p:sp>
      <p:cxnSp>
        <p:nvCxnSpPr>
          <p:cNvPr id="36" name=""/>
          <p:cNvCxnSpPr>
            <a:stCxn xmlns:a="http://schemas.openxmlformats.org/drawingml/2006/main" id="15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 flipV="1">
            <a:off x="6105525" y="3390900"/>
            <a:ext cx="38100" cy="11811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1A6B8"/>
            </a:solidFill>
            <a:prstDash val="dash"/>
            <a:headEnd type="arrow" w="sm" len="sm"/>
          </a:ln>
        </p:spPr>
      </p:cxnSp>
      <p:cxnSp>
        <p:nvCxnSpPr>
          <p:cNvPr id="37" name=""/>
          <p:cNvCxnSpPr>
            <a:stCxn xmlns:a="http://schemas.openxmlformats.org/drawingml/2006/main" id="16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H="1" flipV="1">
            <a:off x="8562975" y="3390900"/>
            <a:ext cx="609600" cy="11811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1A6B8"/>
            </a:solidFill>
            <a:prstDash val="dash"/>
            <a:headEnd type="arrow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DCC361-EBED-464E-8765-D7501EB8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Ana gözlem: evidence / OKF hattı güçlü; orkestrasyon, retrieval ve event davranışı tek bir aktif runtime altında birleşmiş değil.</a:t>
            </a:r>
          </a:p>
        </p:txBody>
      </p:sp>
    </p:spTree>
    <p:extLst>
      <p:ext uri="{BB962C8B-B14F-4D97-AF65-F5344CB8AC3E}">
        <p14:creationId xmlns:p14="http://schemas.microsoft.com/office/powerpoint/2010/main" val="1028300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EC4FC7-9424-450A-ABA1-E17E9FE6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562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MEVCUT AGENT SİSTEMİ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35263-82F5-4C43-86BF-8E41E155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33"/>
                </a:solidFill>
              </a:defRPr>
            </a:pPr>
            <a:r>
              <a:rPr sz="2550" b="1">
                <a:solidFill>
                  <a:srgbClr val="102033"/>
                </a:solidFill>
              </a:rPr>
              <a:t>Pydantic AI bugün specialist agent katmanı olarak çalışıyor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FEB8D-C354-4920-A281-A5B08C6F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Typed giriş/çıkış ve kanıta bağlı görevler, agent üretimini daha denetlenebilir kılıyor.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46656-1872-436D-99D9-64C1BE33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78899"/>
                </a:solidFill>
              </a:defRPr>
            </a:pPr>
            <a:r>
              <a:rPr sz="825" b="0">
                <a:solidFill>
                  <a:srgbClr val="778899"/>
                </a:solidFill>
              </a:rPr>
              <a:t>Agentic Growth Intelligence  |  Internal architecture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0A12C-E059-4619-95E9-DCA15BD3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78899"/>
                </a:solidFill>
              </a:defRPr>
            </a:pPr>
            <a:r>
              <a:rPr sz="825" b="1">
                <a:solidFill>
                  <a:srgbClr val="778899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D8F52-38DA-4C68-A490-D2AFB0CD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428750" cy="14668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48572-1485-4FC2-8727-B167B8B0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B5E99-EAE3-4DE4-83B7-040A1E49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Ingest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F319B9-6BDB-4F10-B404-ED98986F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81425"/>
            <a:ext cx="106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477"/>
                </a:solidFill>
              </a:defRPr>
            </a:pPr>
            <a:r>
              <a:rPr sz="1050" b="0">
                <a:solidFill>
                  <a:srgbClr val="526477"/>
                </a:solidFill>
              </a:rPr>
              <a:t>Raw source snapshot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03776-8028-45AD-9AE1-C648E81A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19400"/>
            <a:ext cx="1428750" cy="14668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51542-BD6A-4698-9A49-463F5B81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289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4BDA0-1BB0-46C5-81B5-94A063E0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813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449083-6B7D-4CFB-90F1-B76B3F72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81425"/>
            <a:ext cx="106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477"/>
                </a:solidFill>
              </a:defRPr>
            </a:pPr>
            <a:r>
              <a:rPr sz="1050" b="0">
                <a:solidFill>
                  <a:srgbClr val="526477"/>
                </a:solidFill>
              </a:rPr>
              <a:t>Locator + metric receipt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3B0FF-A7B6-46FC-8B57-79B37922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19400"/>
            <a:ext cx="1428750" cy="14668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8ED9D9-D099-4A70-898E-D7BFDC5F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DCBF4"/>
                </a:solidFill>
              </a:defRPr>
            </a:pPr>
            <a:r>
              <a:rPr sz="975" b="1">
                <a:solidFill>
                  <a:srgbClr val="6DCBF4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FDAF83-BB57-435E-BF5D-A3521CA5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813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1F247A-B5E0-4B67-A897-0D33A268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81425"/>
            <a:ext cx="106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E9F6FF"/>
                </a:solidFill>
              </a:defRPr>
            </a:pPr>
            <a:r>
              <a:rPr sz="1050" b="0">
                <a:solidFill>
                  <a:srgbClr val="E9F6FF"/>
                </a:solidFill>
              </a:rPr>
              <a:t>4 Pydantic specialists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26D930-E6E4-4CC6-A860-BC1BC077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19400"/>
            <a:ext cx="1428750" cy="14668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E4DEDA-8810-4A4A-A1E0-DA243963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289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3E063C-33DE-408F-840F-4B7199EF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813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E1BEE8-471E-44CF-8A24-FAEC2314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81425"/>
            <a:ext cx="106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477"/>
                </a:solidFill>
              </a:defRPr>
            </a:pPr>
            <a:r>
              <a:rPr sz="1050" b="0">
                <a:solidFill>
                  <a:srgbClr val="526477"/>
                </a:solidFill>
              </a:rPr>
              <a:t>Evidence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957D86-2B6B-4196-AE6D-50BA9BE3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19400"/>
            <a:ext cx="1428750" cy="14668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D34826-82B0-480D-A077-B1A620CF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289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2F48E6-312D-4507-B82D-10D1E432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813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Artifact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3D18B2-6B8B-4F32-B21A-78694216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81425"/>
            <a:ext cx="106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477"/>
                </a:solidFill>
              </a:defRPr>
            </a:pPr>
            <a:r>
              <a:rPr sz="1050" b="0">
                <a:solidFill>
                  <a:srgbClr val="526477"/>
                </a:solidFill>
              </a:rPr>
              <a:t>Candidate OKF / report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15B7D9-E4F4-4076-B879-004736FA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19400"/>
            <a:ext cx="1428750" cy="14668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B57EE9-6CAD-45FE-8541-F2670128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289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427145-2E77-4298-9055-2FAB37C6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813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Approval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676A19-7347-4B31-8BBF-C991F524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81425"/>
            <a:ext cx="106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477"/>
                </a:solidFill>
              </a:defRPr>
            </a:pPr>
            <a:r>
              <a:rPr sz="1050" b="0">
                <a:solidFill>
                  <a:srgbClr val="526477"/>
                </a:solidFill>
              </a:rPr>
              <a:t>Human decision</a:t>
            </a:r>
          </a:p>
        </p:txBody>
      </p:sp>
      <p:cxnSp>
        <p:nvCxnSpPr>
          <p:cNvPr id="66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114550" y="35528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67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924300" y="35528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68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734050" y="35528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69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543800" y="35528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70" name=""/>
          <p:cNvCxnSpPr>
            <a:stCxn xmlns:a="http://schemas.openxmlformats.org/drawingml/2006/main" id="22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9353550" y="35528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B7E5BE-58FB-4147-808B-E6E0F51E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C5EAF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AB57F7-A663-43E4-A5BA-762900F8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768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Pydantic AI’nin rolü: specialist agent sözleşmelerini typed tutmak; bu, orkestrasyon motorunun rolü değildir.</a:t>
            </a:r>
          </a:p>
        </p:txBody>
      </p:sp>
    </p:spTree>
    <p:extLst>
      <p:ext uri="{BB962C8B-B14F-4D97-AF65-F5344CB8AC3E}">
        <p14:creationId xmlns:p14="http://schemas.microsoft.com/office/powerpoint/2010/main" val="9778290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E86A7D-649A-43AA-A412-8C902BC0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KIYAS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671DE-10B2-4A0D-8A02-ACC09FEF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33"/>
                </a:solidFill>
              </a:defRPr>
            </a:pPr>
            <a:r>
              <a:rPr sz="2550" b="1">
                <a:solidFill>
                  <a:srgbClr val="102033"/>
                </a:solidFill>
              </a:rPr>
              <a:t>Mevcut yapı → Unified target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BCA8D-A4F7-45DA-B79A-5CEB1AD9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Hedef, her şeyi yeniden yazmak değil; çalışan kanıt katmanını tek bir agent-first runtime altında birleştirmek.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A448D-819D-4208-B26B-9B702F4D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78899"/>
                </a:solidFill>
              </a:defRPr>
            </a:pPr>
            <a:r>
              <a:rPr sz="825" b="0">
                <a:solidFill>
                  <a:srgbClr val="778899"/>
                </a:solidFill>
              </a:rPr>
              <a:t>Agentic Growth Intelligence  |  Internal architecture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77619-50B4-4807-A060-C7B2803E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78899"/>
                </a:solidFill>
              </a:defRPr>
            </a:pPr>
            <a:r>
              <a:rPr sz="825" b="1">
                <a:solidFill>
                  <a:srgbClr val="778899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2F347-E117-4F02-86CF-C981A6D7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95300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6C192-CCAC-40CA-A161-67AAC9A7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52650"/>
            <a:ext cx="495300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CDE0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E1F24-AA07-43FB-AB13-A2D8B90B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384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6477"/>
                </a:solidFill>
              </a:defRPr>
            </a:pPr>
            <a:r>
              <a:rPr sz="1275" b="1">
                <a:solidFill>
                  <a:srgbClr val="526477"/>
                </a:solidFill>
              </a:rPr>
              <a:t>MEVCUT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CC94D-E48F-4870-8874-1F17FDB1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384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HEDEF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81A41-BE2F-420F-B396-BFDA0D00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095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A9D00-49DA-4B75-A152-B17D3598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0400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Custom sequential runtime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6D89A-C4C5-4F4A-B32A-AD66C01B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4095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6CCB1-2713-4084-9A87-53841B9A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Lexical / optional QMD retrieval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1EB237-4655-4F2E-A83C-7ABE6BD9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57700"/>
            <a:ext cx="4095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2F5B3E-34F0-4659-942F-6B04104F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Event, MCP ve tool davranışı parçalı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AFEACC-2E31-4410-8759-E41294B3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48000"/>
            <a:ext cx="4095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A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BC5E16-494C-453A-88BC-7F1BC028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00400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LangGraph durable orchestration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9679AD-7A34-4D25-9DDB-5E550A66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52850"/>
            <a:ext cx="4095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A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336E5B-63E9-430D-8CB4-BF090CB9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PostgreSQL state + Chroma derived RAG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66F53D-1D3A-4515-9C3E-4D03AF19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57700"/>
            <a:ext cx="4095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A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AB7ED9-0DCB-40EE-87F2-AFAB95FE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10100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033"/>
                </a:solidFill>
              </a:defRPr>
            </a:pPr>
            <a:r>
              <a:rPr sz="1275" b="0">
                <a:solidFill>
                  <a:srgbClr val="102033"/>
                </a:solidFill>
              </a:rPr>
              <a:t>Bounded MCP + durable event / worker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D9FEB9-C265-4FC2-948C-F62F135F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099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3182341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420587-59E7-42A2-954B-6392D3B0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562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HEDEF ÇALIŞMA MODELİ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7DEC0-4B07-4F1B-9F8F-080905B9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33"/>
                </a:solidFill>
              </a:defRPr>
            </a:pPr>
            <a:r>
              <a:rPr sz="2550" b="1">
                <a:solidFill>
                  <a:srgbClr val="102033"/>
                </a:solidFill>
              </a:rPr>
              <a:t>Agent Runtime merkezde; API ve UI onun çevresinde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877E5-6F99-4015-B7A5-3683E123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FastAPI kontrol ve policy yüzeyi olur. LangGraph run lifecycle’ını yönetir. Pydantic AI graph node’larında uzmanlık sağlar.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C7876-2C93-46C0-BA82-E030782D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78899"/>
                </a:solidFill>
              </a:defRPr>
            </a:pPr>
            <a:r>
              <a:rPr sz="825" b="0">
                <a:solidFill>
                  <a:srgbClr val="778899"/>
                </a:solidFill>
              </a:rPr>
              <a:t>Agentic Growth Intelligence  |  Internal architecture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4ADD9-8E40-4268-81F9-F2E14014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78899"/>
                </a:solidFill>
              </a:defRPr>
            </a:pPr>
            <a:r>
              <a:rPr sz="825" b="1">
                <a:solidFill>
                  <a:srgbClr val="778899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B1759-CBB6-4946-AE20-B9EFA0BD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714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UI · webhook</a:t>
            </a:r>
          </a:p>
          <a:p xmlns:a="http://schemas.openxmlformats.org/drawingml/2006/main">
            <a:pPr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schedule ·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B98EA-19D2-4BAB-A81C-EB149D6C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66950"/>
            <a:ext cx="1857375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BFE8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FastAPI control plane</a:t>
            </a:r>
          </a:p>
          <a:p xmlns:a="http://schemas.openxmlformats.org/drawingml/2006/main">
            <a:pPr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policy · auth · runs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BF297-1A77-4BD5-96F6-0C63F8F7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266950"/>
            <a:ext cx="1666875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1D9A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Durable queue</a:t>
            </a:r>
          </a:p>
          <a:p xmlns:a="http://schemas.openxmlformats.org/drawingml/2006/main">
            <a:pPr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run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7A71B-CEA9-4489-864C-19427A7D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076450"/>
            <a:ext cx="2047875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0D1B2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LangGraph runtime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state · retry · pause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checkpoint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26ADAF-7F01-4F1E-A4D2-677FEC9A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076450"/>
            <a:ext cx="1133475" cy="1333500"/>
          </a:xfrm>
          <a:prstGeom xmlns:a="http://schemas.openxmlformats.org/drawingml/2006/main" prst="roundRect">
            <a:avLst>
              <a:gd name="adj" fmla="val 1512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Pydantic</a:t>
            </a:r>
          </a:p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AI nodes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Tools</a:t>
            </a:r>
          </a:p>
        </p:txBody>
      </p: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00300" y="274320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857750" y="274320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124700" y="274320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772650" y="274320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82705F-B424-4932-869F-C603F8D9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62500"/>
            <a:ext cx="1952625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9525">
            <a:solidFill>
              <a:srgbClr val="BEEA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PostgreSQL</a:t>
            </a:r>
          </a:p>
          <a:p xmlns:a="http://schemas.openxmlformats.org/drawingml/2006/main">
            <a:pPr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state · audit ·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AE0353-6071-4641-A429-22675B84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62500"/>
            <a:ext cx="1952625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OKF / Git</a:t>
            </a:r>
          </a:p>
          <a:p xmlns:a="http://schemas.openxmlformats.org/drawingml/2006/main">
            <a:pPr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active company knowledge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6636F4-384D-46AE-A25F-FA35B002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62500"/>
            <a:ext cx="1952625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Chroma</a:t>
            </a:r>
          </a:p>
          <a:p xmlns:a="http://schemas.openxmlformats.org/drawingml/2006/main">
            <a:pPr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derived retrieval index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567186-2C9B-4225-8BCC-9D2E5021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762500"/>
            <a:ext cx="1704975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Approved MCP</a:t>
            </a:r>
          </a:p>
          <a:p xmlns:a="http://schemas.openxmlformats.org/drawingml/2006/main">
            <a:pPr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providers / tools</a:t>
            </a:r>
          </a:p>
        </p:txBody>
      </p:sp>
      <p:cxnSp>
        <p:nvCxnSpPr>
          <p:cNvPr id="41" name=""/>
          <p:cNvCxnSpPr>
            <a:stCxn xmlns:a="http://schemas.openxmlformats.org/drawingml/2006/main" id="9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2576513" y="3409950"/>
            <a:ext cx="617220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42" name=""/>
          <p:cNvCxnSpPr>
            <a:stCxn xmlns:a="http://schemas.openxmlformats.org/drawingml/2006/main" id="9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5310188" y="3409950"/>
            <a:ext cx="3438525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43" name=""/>
          <p:cNvCxnSpPr>
            <a:stCxn xmlns:a="http://schemas.openxmlformats.org/drawingml/2006/main" id="10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8043863" y="3409950"/>
            <a:ext cx="289560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44" name=""/>
          <p:cNvCxnSpPr>
            <a:stCxn xmlns:a="http://schemas.openxmlformats.org/drawingml/2006/main" id="10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10653713" y="3409950"/>
            <a:ext cx="28575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4691802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E43BFC-0059-4E34-BFEE-6E69F6DA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71831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NEDEN BU FRAMEWORKLER?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3D424-75E1-48F7-9A8E-9C6F6570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33"/>
                </a:solidFill>
              </a:defRPr>
            </a:pPr>
            <a:r>
              <a:rPr sz="2550" b="1">
                <a:solidFill>
                  <a:srgbClr val="102033"/>
                </a:solidFill>
              </a:rPr>
              <a:t>Teknoloji seçimi, agent lifecycle sorumluluklarını ayırmak için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EDCC8-E79E-43C3-84DE-CB5A517B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Her bileşen tek bir işi iyi yapar; bunlar birbirinin alternatifi değildir.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4486D-D953-4A43-8B11-74681BB9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78899"/>
                </a:solidFill>
              </a:defRPr>
            </a:pPr>
            <a:r>
              <a:rPr sz="825" b="0">
                <a:solidFill>
                  <a:srgbClr val="778899"/>
                </a:solidFill>
              </a:rPr>
              <a:t>Agentic Growth Intelligence  |  Internal architecture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FAFB78-F2C6-4337-823E-4B5998A5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78899"/>
                </a:solidFill>
              </a:defRPr>
            </a:pPr>
            <a:r>
              <a:rPr sz="825" b="1">
                <a:solidFill>
                  <a:srgbClr val="778899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0831B-2129-4F91-A462-7355ADE2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314700" cy="23431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B8553-7A7F-40A0-A276-267F71D6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908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FastAPI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32CED-B0BA-490D-8B6E-B643E843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Control plane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0B177-F0B1-4F59-A546-5D5824C7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API, kimlik, policy, run yönetimi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CE6D48-BE80-4A09-A16D-FEB9E8B3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3314700" cy="23431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EEF5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444D8A-65EE-4079-859E-A21B6AE8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908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LangGraph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6FD05-8678-4713-859E-CC399615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33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Orchestration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382DF-78B6-47DB-926E-9C035038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290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State, checkpoint, pause/resume, retry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E2588F-7D4F-490B-ABDC-4AA9578B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0"/>
            <a:ext cx="3314700" cy="23431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9525">
            <a:solidFill>
              <a:srgbClr val="EAF8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74FE63-0040-4C01-A5B6-C28EA30B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908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9D7A"/>
                </a:solidFill>
              </a:defRPr>
            </a:pPr>
            <a:r>
              <a:rPr sz="2100" b="1">
                <a:solidFill>
                  <a:srgbClr val="1F9D7A"/>
                </a:solidFill>
              </a:rPr>
              <a:t>Pydantic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60E89-4732-40A8-B0E2-769F6246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33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Agent contract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C2CD7B-3F6F-412C-883E-6A8B3D7D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290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Typed outputs, dependency ve tool scoping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3D6D9F-D90B-46EC-95B4-452381CE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0D1B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58F8B3-3105-4690-8B20-4C3343A5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387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Memory &amp; knowledge: PostgreSQL (operational truth) + OKF (portable knowledge) + Chroma (disposable derived retrieval).</a:t>
            </a:r>
          </a:p>
        </p:txBody>
      </p:sp>
    </p:spTree>
    <p:extLst>
      <p:ext uri="{BB962C8B-B14F-4D97-AF65-F5344CB8AC3E}">
        <p14:creationId xmlns:p14="http://schemas.microsoft.com/office/powerpoint/2010/main" val="4471281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EF3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E1901C-D68D-4779-82E8-24E91399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GEÇİŞ YAKLAŞIMI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66265-F85D-4018-BB6D-F3158348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33"/>
                </a:solidFill>
              </a:defRPr>
            </a:pPr>
            <a:r>
              <a:rPr sz="2550" b="1">
                <a:solidFill>
                  <a:srgbClr val="102033"/>
                </a:solidFill>
              </a:rPr>
              <a:t>Küçük, geri alınabilir ve çalışan PR’larla ilerleme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835A3-0A63-4D4C-AAE8-05CAB7DD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UI en sona gelir; önce runtime davranışı ve doğrulanabilirlik stabil hale getirilir.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27108-A90E-46E1-9657-6226CBCB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78899"/>
                </a:solidFill>
              </a:defRPr>
            </a:pPr>
            <a:r>
              <a:rPr sz="825" b="0">
                <a:solidFill>
                  <a:srgbClr val="778899"/>
                </a:solidFill>
              </a:rPr>
              <a:t>Agentic Growth Intelligence  |  Internal architecture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BD696-CED7-4369-BEE6-41F4E33C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78899"/>
                </a:solidFill>
              </a:defRPr>
            </a:pPr>
            <a:r>
              <a:rPr sz="825" b="1">
                <a:solidFill>
                  <a:srgbClr val="778899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12D08-1652-46A8-A619-F04EEF85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6954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286B4-2587-42F6-8CAD-CE113E4E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860A8-FE1E-47B7-B2A2-15355C2A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33725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E54C6-C6DC-4350-8C24-AD4DF5BA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52825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Foundation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AD8FF-1E2D-44AD-90C7-22E86E54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477"/>
                </a:solidFill>
              </a:defRPr>
            </a:pPr>
            <a:r>
              <a:rPr sz="1050" b="0">
                <a:solidFill>
                  <a:srgbClr val="526477"/>
                </a:solidFill>
              </a:rPr>
              <a:t>Contracts &amp; run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29A6B-5E62-4035-83CE-45C79788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57500"/>
            <a:ext cx="16954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3B790-20DF-497D-8E56-A0A735CE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6705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B0E86-264D-4537-BD18-C15CA169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33725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D854C3-66BF-46D4-ADAD-BFAF7137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52825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Active runtime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5E61A5-C5E2-48D7-895E-84E7B1B0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767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477"/>
                </a:solidFill>
              </a:defRPr>
            </a:pPr>
            <a:r>
              <a:rPr sz="1050" b="0">
                <a:solidFill>
                  <a:srgbClr val="526477"/>
                </a:solidFill>
              </a:rPr>
              <a:t>LangGraph parity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C29210-1A9C-4E68-88ED-447DF17D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57500"/>
            <a:ext cx="16954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6D4531-1B24-47AF-BF21-06AF55B9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6705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F0D191-28D8-46E0-9B4D-37BCB113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33725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7F80B1-9E8C-4E2E-AF19-650C066B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52825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Context / RAG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33F0BE-1A9D-462E-BEC1-9622B3EC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767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477"/>
                </a:solidFill>
              </a:defRPr>
            </a:pPr>
            <a:r>
              <a:rPr sz="1050" b="0">
                <a:solidFill>
                  <a:srgbClr val="526477"/>
                </a:solidFill>
              </a:rPr>
              <a:t>Evidence-aware retrieval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DBE7A7-EFBE-4051-82E8-FF3D9555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57500"/>
            <a:ext cx="16954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4299A8-0166-4B08-B4F2-B4A45A66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6705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1F2FB3-C4EE-47B0-B05E-EC06274E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33725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27B1EA-7955-472D-9B9A-574EA12B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52825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MCP / Events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DF12C3-B021-4CC1-ABCA-88735930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767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477"/>
                </a:solidFill>
              </a:defRPr>
            </a:pPr>
            <a:r>
              <a:rPr sz="1050" b="0">
                <a:solidFill>
                  <a:srgbClr val="526477"/>
                </a:solidFill>
              </a:rPr>
              <a:t>Bounded async execution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7ABFED-C4E8-4E2E-9A02-D78F2EAE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57500"/>
            <a:ext cx="16954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B113FC-1FA5-4157-B739-5C20E4A7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67050"/>
            <a:ext cx="400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9525">
            <a:solidFill>
              <a:srgbClr val="EAF8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B85F1C-53B3-45E5-87DC-8B812A2B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33725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EB21AD-47F4-46E6-85B8-804C1C12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552825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UI / Release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1BC6B2-2A70-4F9A-B424-003874F7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767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477"/>
                </a:solidFill>
              </a:defRPr>
            </a:pPr>
            <a:r>
              <a:rPr sz="1050" b="0">
                <a:solidFill>
                  <a:srgbClr val="526477"/>
                </a:solidFill>
              </a:rPr>
              <a:t>Control panel integration</a:t>
            </a:r>
          </a:p>
        </p:txBody>
      </p:sp>
      <p:cxnSp>
        <p:nvCxnSpPr>
          <p:cNvPr id="66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381250" y="36861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67" name=""/>
          <p:cNvCxnSpPr>
            <a:stCxn xmlns:a="http://schemas.openxmlformats.org/drawingml/2006/main" id="11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533900" y="36861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68" name=""/>
          <p:cNvCxnSpPr>
            <a:stCxn xmlns:a="http://schemas.openxmlformats.org/drawingml/2006/main" id="16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6686550" y="36861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69" name=""/>
          <p:cNvCxnSpPr>
            <a:stCxn xmlns:a="http://schemas.openxmlformats.org/drawingml/2006/main" id="21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8839200" y="36861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6C6DE1-C240-411B-872B-87C6D5EE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033"/>
                </a:solidFill>
              </a:defRPr>
            </a:pPr>
            <a:r>
              <a:rPr sz="1425" b="1">
                <a:solidFill>
                  <a:srgbClr val="102033"/>
                </a:solidFill>
              </a:rPr>
              <a:t>Her faz: 2–6 saat · tek PR · working state · bağımsız doğrulama · kolay rollback</a:t>
            </a:r>
          </a:p>
        </p:txBody>
      </p:sp>
    </p:spTree>
    <p:extLst>
      <p:ext uri="{BB962C8B-B14F-4D97-AF65-F5344CB8AC3E}">
        <p14:creationId xmlns:p14="http://schemas.microsoft.com/office/powerpoint/2010/main" val="7651236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455EF-F604-4AF3-BEAA-16136E84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866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552"/>
          </a:solidFill>
          <a:ln xmlns:a="http://schemas.openxmlformats.org/drawingml/2006/main" w="9525">
            <a:solidFill>
              <a:srgbClr val="1635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DCBF4"/>
                </a:solidFill>
              </a:defRPr>
            </a:pPr>
            <a:r>
              <a:rPr sz="900" b="1">
                <a:solidFill>
                  <a:srgbClr val="6DCBF4"/>
                </a:solidFill>
              </a:rPr>
              <a:t>MEETING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BC46D-36BC-49BB-91B1-F06C777B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9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Web UI bir kontrol yüzeyidir.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Intelligence engine, agent runtime’dır.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8369B-D015-4375-A069-5BD9DCC3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238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63552"/>
          </a:solidFill>
          <a:ln xmlns:a="http://schemas.openxmlformats.org/drawingml/2006/main" w="9525">
            <a:solidFill>
              <a:srgbClr val="24476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1CE6D-4333-405D-B39A-DD92011A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DCBF4"/>
                </a:solidFill>
              </a:defRPr>
            </a:pPr>
            <a:r>
              <a:rPr sz="1575" b="1">
                <a:solidFill>
                  <a:srgbClr val="6DCBF4"/>
                </a:solidFill>
              </a:rPr>
              <a:t>Protect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9B882-61AA-4277-AE36-C316BC43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EFF"/>
                </a:solidFill>
              </a:defRPr>
            </a:pPr>
            <a:r>
              <a:rPr sz="1275" b="0">
                <a:solidFill>
                  <a:srgbClr val="DCEEFF"/>
                </a:solidFill>
              </a:rPr>
              <a:t>Evidence + approval + company knowledge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404A2-44A0-4264-B9D9-7B5BB875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14750"/>
            <a:ext cx="3238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63552"/>
          </a:solidFill>
          <a:ln xmlns:a="http://schemas.openxmlformats.org/drawingml/2006/main" w="9525">
            <a:solidFill>
              <a:srgbClr val="2447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91F33-FB82-4012-83F2-8B14C78D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DCBF4"/>
                </a:solidFill>
              </a:defRPr>
            </a:pPr>
            <a:r>
              <a:rPr sz="1575" b="1">
                <a:solidFill>
                  <a:srgbClr val="6DCBF4"/>
                </a:solidFill>
              </a:rPr>
              <a:t>Unify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8BECE5-6219-4984-AEC5-F7FFF4FF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386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EFF"/>
                </a:solidFill>
              </a:defRPr>
            </a:pPr>
            <a:r>
              <a:rPr sz="1275" b="0">
                <a:solidFill>
                  <a:srgbClr val="DCEEFF"/>
                </a:solidFill>
              </a:rPr>
              <a:t>Runtime + memory + tools + events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49DA0-2862-49B5-8208-96FE5416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3238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63552"/>
          </a:solidFill>
          <a:ln xmlns:a="http://schemas.openxmlformats.org/drawingml/2006/main" w="9525">
            <a:solidFill>
              <a:srgbClr val="2447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834F47-7F76-49E3-A716-636A7928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0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DCBF4"/>
                </a:solidFill>
              </a:defRPr>
            </a:pPr>
            <a:r>
              <a:rPr sz="1575" b="1">
                <a:solidFill>
                  <a:srgbClr val="6DCBF4"/>
                </a:solidFill>
              </a:rPr>
              <a:t>Operate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F134A-281D-4FAA-82CD-48282F7C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386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EFF"/>
                </a:solidFill>
              </a:defRPr>
            </a:pPr>
            <a:r>
              <a:rPr sz="1275" b="0">
                <a:solidFill>
                  <a:srgbClr val="DCEEFF"/>
                </a:solidFill>
              </a:rPr>
              <a:t>Visible runs, checkpoints and governed change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CAE10-355B-4C5E-AD09-6D7DFECC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ECDED"/>
                </a:solidFill>
              </a:defRPr>
            </a:pPr>
            <a:r>
              <a:rPr sz="1350" b="0">
                <a:solidFill>
                  <a:srgbClr val="9ECDED"/>
                </a:solidFill>
              </a:rPr>
              <a:t>Karar çerçevesi: minimum değişiklikle, kanıta dayalı agent-first çalışma modeline geçiş.</a:t>
            </a:r>
          </a:p>
        </p:txBody>
      </p:sp>
    </p:spTree>
    <p:extLst>
      <p:ext uri="{BB962C8B-B14F-4D97-AF65-F5344CB8AC3E}">
        <p14:creationId xmlns:p14="http://schemas.microsoft.com/office/powerpoint/2010/main" val="1541505753"/>
      </p:ext>
    </p:extLst>
  </p:cSld>
</p:sld>
</file>

<file path=ppt/theme/theme1.xml><?xml version="1.0" encoding="utf-8"?>
<a:theme xmlns:a="http://schemas.openxmlformats.org/drawingml/2006/main" name="ChatGPT">
  <a:themeElements>
    <a:clrScheme name="AGI Clean">
      <a:dk1>
        <a:srgbClr val="000000"/>
      </a:dk1>
      <a:lt1>
        <a:srgbClr val="FFFFFF"/>
      </a:lt1>
      <a:dk2>
        <a:srgbClr val="0D1B2A"/>
      </a:dk2>
      <a:lt2>
        <a:srgbClr val="EEF3F7"/>
      </a:lt2>
      <a:accent1>
        <a:srgbClr val="3D8DFF"/>
      </a:accent1>
      <a:accent2>
        <a:srgbClr val="1F9D7A"/>
      </a:accent2>
      <a:accent3>
        <a:srgbClr val="C47B12"/>
      </a:accent3>
      <a:accent4>
        <a:srgbClr val="B94A48"/>
      </a:accent4>
      <a:accent5>
        <a:srgbClr val="6DCBF4"/>
      </a:accent5>
      <a:accent6>
        <a:srgbClr val="7C5CFC"/>
      </a:accent6>
      <a:hlink>
        <a:srgbClr val="3D8DFF"/>
      </a:hlink>
      <a:folHlink>
        <a:srgbClr val="7C5CF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GI Clea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2026-07-24T15:56:13.0780000Z</dcterms:created>
  <dcterms:modified xsi:type="dcterms:W3CDTF">2026-07-24T15:56:13.0780000Z</dcterms:modified>
</coreProperties>
</file>