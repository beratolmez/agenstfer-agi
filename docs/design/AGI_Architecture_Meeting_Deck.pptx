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05045c11f0486c" /><Relationship Type="http://schemas.openxmlformats.org/officeDocument/2006/relationships/extended-properties" Target="/docProps/app.xml" Id="Ra4a2bf55b7324be4" /><Relationship Type="http://schemas.openxmlformats.org/officeDocument/2006/relationships/officeDocument" Target="/ppt/presentation.xml" Id="Re02bfe3e1dd44c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9f87eadd2244ff"/>
  </p:sldMasterIdLst>
  <p:notesMasterIdLst>
    <p:notesMasterId xmlns:r="http://schemas.openxmlformats.org/officeDocument/2006/relationships" r:id="R0d4dbcf055074549"/>
  </p:notesMasterIdLst>
  <p:sldIdLst>
    <p:sldId xmlns:r="http://schemas.openxmlformats.org/officeDocument/2006/relationships" id="256" r:id="Rbfa6a2432b214ab5"/>
    <p:sldId xmlns:r="http://schemas.openxmlformats.org/officeDocument/2006/relationships" id="257" r:id="R752eaa6d18c8422d"/>
    <p:sldId xmlns:r="http://schemas.openxmlformats.org/officeDocument/2006/relationships" id="258" r:id="R1f08b33aea5a449c"/>
    <p:sldId xmlns:r="http://schemas.openxmlformats.org/officeDocument/2006/relationships" id="259" r:id="R73156f09ebf24c8e"/>
    <p:sldId xmlns:r="http://schemas.openxmlformats.org/officeDocument/2006/relationships" id="260" r:id="Rf3c46d0f25164487"/>
    <p:sldId xmlns:r="http://schemas.openxmlformats.org/officeDocument/2006/relationships" id="261" r:id="R07e63a6548f74210"/>
    <p:sldId xmlns:r="http://schemas.openxmlformats.org/officeDocument/2006/relationships" id="262" r:id="Rd3d159ba76a1469b"/>
    <p:sldId xmlns:r="http://schemas.openxmlformats.org/officeDocument/2006/relationships" id="263" r:id="R8760ba9772ba4491"/>
    <p:sldId xmlns:r="http://schemas.openxmlformats.org/officeDocument/2006/relationships" id="264" r:id="R6089a69daf1445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c65ed906c74930" /><Relationship Type="http://schemas.openxmlformats.org/officeDocument/2006/relationships/slideMaster" Target="/ppt/slideMasters/slideMaster1.xml" Id="R549f87eadd2244ff" /><Relationship Type="http://schemas.openxmlformats.org/officeDocument/2006/relationships/notesMaster" Target="/ppt/notesMasters/notesMaster1.xml" Id="R0d4dbcf055074549" /><Relationship Type="http://schemas.openxmlformats.org/officeDocument/2006/relationships/presProps" Target="/ppt/presProps.xml" Id="R8619832a4dca4612" /><Relationship Type="http://schemas.openxmlformats.org/officeDocument/2006/relationships/tableStyles" Target="/ppt/tableStyles.xml" Id="R3f511b7442834c39" /><Relationship Type="http://schemas.openxmlformats.org/officeDocument/2006/relationships/slide" Target="/ppt/slides/slide1.xml" Id="Rbfa6a2432b214ab5" /><Relationship Type="http://schemas.openxmlformats.org/officeDocument/2006/relationships/slide" Target="/ppt/slides/slide2.xml" Id="R752eaa6d18c8422d" /><Relationship Type="http://schemas.openxmlformats.org/officeDocument/2006/relationships/slide" Target="/ppt/slides/slide3.xml" Id="R1f08b33aea5a449c" /><Relationship Type="http://schemas.openxmlformats.org/officeDocument/2006/relationships/slide" Target="/ppt/slides/slide4.xml" Id="R73156f09ebf24c8e" /><Relationship Type="http://schemas.openxmlformats.org/officeDocument/2006/relationships/slide" Target="/ppt/slides/slide5.xml" Id="Rf3c46d0f25164487" /><Relationship Type="http://schemas.openxmlformats.org/officeDocument/2006/relationships/slide" Target="/ppt/slides/slide6.xml" Id="R07e63a6548f74210" /><Relationship Type="http://schemas.openxmlformats.org/officeDocument/2006/relationships/slide" Target="/ppt/slides/slide7.xml" Id="Rd3d159ba76a1469b" /><Relationship Type="http://schemas.openxmlformats.org/officeDocument/2006/relationships/slide" Target="/ppt/slides/slide8.xml" Id="R8760ba9772ba4491" /><Relationship Type="http://schemas.openxmlformats.org/officeDocument/2006/relationships/slide" Target="/ppt/slides/slide9.xml" Id="R6089a69daf1445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53626265cf4e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GI Clean">
      <a:dk1>
        <a:srgbClr val="000000"/>
      </a:dk1>
      <a:lt1>
        <a:srgbClr val="FFFFFF"/>
      </a:lt1>
      <a:dk2>
        <a:srgbClr val="0D1B2A"/>
      </a:dk2>
      <a:lt2>
        <a:srgbClr val="EEF3F7"/>
      </a:lt2>
      <a:accent1>
        <a:srgbClr val="3D8DFF"/>
      </a:accent1>
      <a:accent2>
        <a:srgbClr val="1F9D7A"/>
      </a:accent2>
      <a:accent3>
        <a:srgbClr val="C47B12"/>
      </a:accent3>
      <a:accent4>
        <a:srgbClr val="B94A48"/>
      </a:accent4>
      <a:accent5>
        <a:srgbClr val="6DCBF4"/>
      </a:accent5>
      <a:accent6>
        <a:srgbClr val="7C5CFC"/>
      </a:accent6>
      <a:hlink>
        <a:srgbClr val="3D8DFF"/>
      </a:hlink>
      <a:folHlink>
        <a:srgbClr val="7C5CF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GI Cle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bba4f7760841dc" /><Relationship Type="http://schemas.openxmlformats.org/officeDocument/2006/relationships/notesMaster" Target="/ppt/notesMasters/notesMaster1.xml" Id="Ra32f6518f4a349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24fa1b46f84148" /><Relationship Type="http://schemas.openxmlformats.org/officeDocument/2006/relationships/notesMaster" Target="/ppt/notesMasters/notesMaster1.xml" Id="R4a1dd78f60404c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e16f6bfe874ead" /><Relationship Type="http://schemas.openxmlformats.org/officeDocument/2006/relationships/notesMaster" Target="/ppt/notesMasters/notesMaster1.xml" Id="R0d2ec1b6c2e044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3acd4f3d214ee5" /><Relationship Type="http://schemas.openxmlformats.org/officeDocument/2006/relationships/notesMaster" Target="/ppt/notesMasters/notesMaster1.xml" Id="R4ab776b8744f44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9730a767bd47ff" /><Relationship Type="http://schemas.openxmlformats.org/officeDocument/2006/relationships/notesMaster" Target="/ppt/notesMasters/notesMaster1.xml" Id="R52ded642353c4e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30f5b24bdb4be4" /><Relationship Type="http://schemas.openxmlformats.org/officeDocument/2006/relationships/notesMaster" Target="/ppt/notesMasters/notesMaster1.xml" Id="Rb72008c3d25249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b1a1dda2c6473a" /><Relationship Type="http://schemas.openxmlformats.org/officeDocument/2006/relationships/notesMaster" Target="/ppt/notesMasters/notesMaster1.xml" Id="R0c079f007b7241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db8d764187400a" /><Relationship Type="http://schemas.openxmlformats.org/officeDocument/2006/relationships/notesMaster" Target="/ppt/notesMasters/notesMaster1.xml" Id="Ra45375bddeb949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e192d0b7fa4d10" /><Relationship Type="http://schemas.openxmlformats.org/officeDocument/2006/relationships/notesMaster" Target="/ppt/notesMasters/notesMaster1.xml" Id="Rb0ee956335a441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Ürünü bir dashboard değil, şirket bilgisini kanıta dayalı kararlara dönüştüren yönetilebilir agent runtime olarak konumlandırın.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Bu dört unsur ürünün web yüzeyinden bağımsız çekirdeğidir. UI bunları işletmek ve gözlemlemek için vardır.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Bu bir kalite yargısı değil, çalışma yolu gözlemidir. Aktif API custom runtime’a gider; LangGraph ve Chroma kod tabanında ayrı konumdadır.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Pydantic AI agentların şemalı giriş/çıkış ve tool sınırlarını tanımlar. Mevcut sıralama custom runtime tarafından yönetilir.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Unified hedef, kanıt / OKF / approval modelini korur. Değişen temel konu runtime merkezinin LangGraph’a taşınmasıdır.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Katmanların sorumluluğu netleşir. LangGraph stateful workflow omurgasıdır; Pydantic AI yalnızca agent node davranışını taşır; kalıcı gerçeklik PostgreSQL/OKF’dedir.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Özellikle LangGraph ve Pydantic AI’ı karşılaştırmak yerine tamamlayıcı sorumluluklar olarak anlatın: birincisi workflow, ikincisi agent sözleşmesi.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Roadmap’ın koruyucu kuralı: hiçbir faz broken state bırakmaz. İlk hedefi davranış eşitliği, sonra fonksiyon genişletme olarak anlatın.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Kapanışta hedefi tek cümlede özetleyin: mevcut kanıt ve onay gücünü koruyup bunu dayanıklı, gözlemlenebilir agent runtime üzerine oturtmak.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551a1e16f4c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6861ed409c456c" /><Relationship Type="http://schemas.openxmlformats.org/officeDocument/2006/relationships/slideLayout" Target="/ppt/slideLayouts/slideLayout1.xml" Id="Re676cc6fd84d4b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76cc6fd84d4b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GI Clean">
      <a:dk1>
        <a:srgbClr val="000000"/>
      </a:dk1>
      <a:lt1>
        <a:srgbClr val="FFFFFF"/>
      </a:lt1>
      <a:dk2>
        <a:srgbClr val="0D1B2A"/>
      </a:dk2>
      <a:lt2>
        <a:srgbClr val="EEF3F7"/>
      </a:lt2>
      <a:accent1>
        <a:srgbClr val="3D8DFF"/>
      </a:accent1>
      <a:accent2>
        <a:srgbClr val="1F9D7A"/>
      </a:accent2>
      <a:accent3>
        <a:srgbClr val="C47B12"/>
      </a:accent3>
      <a:accent4>
        <a:srgbClr val="B94A48"/>
      </a:accent4>
      <a:accent5>
        <a:srgbClr val="6DCBF4"/>
      </a:accent5>
      <a:accent6>
        <a:srgbClr val="7C5CFC"/>
      </a:accent6>
      <a:hlink>
        <a:srgbClr val="3D8DFF"/>
      </a:hlink>
      <a:folHlink>
        <a:srgbClr val="7C5CF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GI Cle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78b2d885d4006" /><Relationship Type="http://schemas.openxmlformats.org/officeDocument/2006/relationships/notesSlide" Target="/ppt/notesSlides/notesSlide1.xml" Id="R0682bb99adc341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d50f77dda48bf" /><Relationship Type="http://schemas.openxmlformats.org/officeDocument/2006/relationships/notesSlide" Target="/ppt/notesSlides/notesSlide2.xml" Id="R78c11f81091d46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17fea5a834d8c" /><Relationship Type="http://schemas.openxmlformats.org/officeDocument/2006/relationships/notesSlide" Target="/ppt/notesSlides/notesSlide3.xml" Id="Rce77460c888343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d3f87d9184a40" /><Relationship Type="http://schemas.openxmlformats.org/officeDocument/2006/relationships/notesSlide" Target="/ppt/notesSlides/notesSlide4.xml" Id="R7f2085a514cd4d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0be7bb73d45e0" /><Relationship Type="http://schemas.openxmlformats.org/officeDocument/2006/relationships/notesSlide" Target="/ppt/notesSlides/notesSlide5.xml" Id="Rdb69c8c7f18b41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c7c287b6043ad" /><Relationship Type="http://schemas.openxmlformats.org/officeDocument/2006/relationships/notesSlide" Target="/ppt/notesSlides/notesSlide6.xml" Id="Re0779fb5f33c4f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2f0fc98414c35" /><Relationship Type="http://schemas.openxmlformats.org/officeDocument/2006/relationships/notesSlide" Target="/ppt/notesSlides/notesSlide7.xml" Id="R694bddcb67b14c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172ce5dbd475d" /><Relationship Type="http://schemas.openxmlformats.org/officeDocument/2006/relationships/notesSlide" Target="/ppt/notesSlides/notesSlide8.xml" Id="R202c4cf053a94b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9a4821cc54419" /><Relationship Type="http://schemas.openxmlformats.org/officeDocument/2006/relationships/notesSlide" Target="/ppt/notesSlides/notesSlide9.xml" Id="R0c9033c7535b4e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D1D34-B7A9-4441-A6C0-9E36F0D1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4A121-72EC-4092-94A5-737061E5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E1F7C-DD0F-4D7E-9881-1822C3CE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4765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552"/>
          </a:solidFill>
          <a:ln xmlns:a="http://schemas.openxmlformats.org/drawingml/2006/main" w="9525">
            <a:solidFill>
              <a:srgbClr val="1635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4025D-DCD9-4E0C-B6AE-702047B9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15240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3"/>
          </a:solidFill>
          <a:ln xmlns:a="http://schemas.openxmlformats.org/drawingml/2006/main" w="9525">
            <a:solidFill>
              <a:srgbClr val="2457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A861D-C5F0-43DA-801A-35E7DC0B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81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9782C-0336-466A-AD4E-E8B6B97B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428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ARCHITECTURE BRIEFING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A3E2A-7932-490C-BBD9-B265A133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09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033"/>
                </a:solidFill>
              </a:defRPr>
            </a:pPr>
            <a:r>
              <a:rPr sz="4200" b="1">
                <a:solidFill>
                  <a:srgbClr val="102033"/>
                </a:solidFill>
              </a:rPr>
              <a:t>Agentic Growth</a:t>
            </a:r>
          </a:p>
          <a:p xmlns:a="http://schemas.openxmlformats.org/drawingml/2006/main">
            <a:pPr>
              <a:defRPr sz="4200" b="1">
                <a:solidFill>
                  <a:srgbClr val="102033"/>
                </a:solidFill>
              </a:defRPr>
            </a:pPr>
            <a:r>
              <a:rPr sz="4200" b="1">
                <a:solidFill>
                  <a:srgbClr val="102033"/>
                </a:solidFill>
              </a:rPr>
              <a:t>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458AE-B88C-4C28-B647-5BF1F19E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Mevcut Mimari → Hedef Agent-First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64563-C5B8-48D4-8C54-22838380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477"/>
                </a:solidFill>
              </a:defRPr>
            </a:pPr>
            <a:r>
              <a:rPr sz="1500" b="0">
                <a:solidFill>
                  <a:srgbClr val="526477"/>
                </a:solidFill>
              </a:rPr>
              <a:t>Toplantı için kısa anlatı: ürün konumu, çalışan yapı, hedef çalışma modeli ve geçiş yaklaşımı.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6C6F4-57F6-4BA2-AC33-08BE7416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24 Temmuz 2026  |  Internal discussion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4ADB5-C6FF-48C0-801C-3A2E1167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INTELLIGENCE</a:t>
            </a:r>
          </a:p>
          <a:p xmlns:a="http://schemas.openxmlformats.org/drawingml/2006/main">
            <a:pPr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IS THE RUNTIME</a:t>
            </a:r>
          </a:p>
        </p:txBody>
      </p:sp>
    </p:spTree>
    <p:extLst>
      <p:ext uri="{BB962C8B-B14F-4D97-AF65-F5344CB8AC3E}">
        <p14:creationId xmlns:p14="http://schemas.microsoft.com/office/powerpoint/2010/main" val="21095876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4AAC72-02C0-48FC-9C33-92366F73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ÜRÜN KONUMU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90AB5-B578-43D2-9841-2B4AC53E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Bu ürün klasik bir web uygulaması değil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F4370-3134-4189-9276-09275617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Web UI, intelligence engine’in kendisi değil; runtime için kontrol panelidir.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5EA16-711D-43C3-9A20-3303B0A0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7C790-617E-495B-B23E-D1943313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FABBB-0718-458A-909F-775E33A1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18417-B213-4AFD-998B-7BCF1F00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483C7-04BF-4317-9633-2D2C59BD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860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319E7-8409-4670-A0EB-29A0144D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CF62E-17AF-40AB-BCD2-800A9B98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Şirket, kaynak, rol ve görev bağlamı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3C1E1-4A9E-4A11-B1D0-D1C06B8C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953EE-F903-4C9A-97D3-4A5C74AD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01F2A-64BF-440B-8CFE-96E2BFD8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860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90E99-27EF-463E-83AB-59297F76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0BAF9-6326-43F4-B9B1-18D41EFA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İddialar ve sayılar için izlenebilir dayanak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B870C-EADC-436D-A021-177003BF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70F99-ACC4-4DCB-9B4C-2F2A2916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31DD0-F146-4BD3-B789-EBE384AC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860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D398C-47DA-40BA-BEC0-33ED8E35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EE87D-9FD4-44E5-9D48-EFA32190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Yetki, tool sınırı ve güvenlik kuralları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275C9-346E-4FF7-93DB-50318EFD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E0362C-73ED-4EF4-B548-64ABB533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40E28-961B-44D0-A18D-BB61D40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860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B0B3D-10E9-4F89-9FF6-CE975AA6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E8B7C5-F1EA-4AA7-AD5F-BE1E5614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481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Aday bilgi değişiklikleri için insan onayı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28A322-AD05-4F7D-A0D3-0E80961B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Temel ilke: her değerli çıktının kaynağı, bağlamı ve onay durumu görünür olmalı.</a:t>
            </a:r>
          </a:p>
        </p:txBody>
      </p:sp>
    </p:spTree>
    <p:extLst>
      <p:ext uri="{BB962C8B-B14F-4D97-AF65-F5344CB8AC3E}">
        <p14:creationId xmlns:p14="http://schemas.microsoft.com/office/powerpoint/2010/main" val="1344809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D5A2B-0B6C-41B8-B2CD-1A204ED4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BUGÜN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EAE0C-AB6E-4ED4-849D-C610C048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Mevcut çalışma yolu: sağlam veri temeli, iki ayrı execution izi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B9E11-0421-4273-AD52-89EE91C4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Aktif API yolu custom persistent runtime kullanıyor; LangGraph ve Chroma ayrı servislerde bulunuyor.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D79EA-7021-4AC5-A8B2-34614D4C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3EF53-EE7F-407E-8242-5F8E2189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25C91-9114-4A4F-864E-32AECA39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571625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DE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Web UI</a:t>
            </a:r>
          </a:p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Kontrol paneli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B711D-FC8B-4C6F-A53E-5AEA0A36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1762125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BFE8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FastAPI</a:t>
            </a:r>
          </a:p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Control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68968-7D6A-459D-AD0F-9E46CA7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66950"/>
            <a:ext cx="20764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Custom persistent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workflow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AD8CD-369F-495C-99B1-8DD7C5F0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17907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Pydantic AI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 specialist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D6A19-92E3-470C-913C-7AD8C6F4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47900"/>
            <a:ext cx="152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BEEA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PostgreSQL</a:t>
            </a:r>
          </a:p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OKF / evidence</a:t>
            </a:r>
          </a:p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artifacts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57425" y="2828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543425" y="2828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43750" y="2828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9458325" y="2819400"/>
            <a:ext cx="523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B4104-B04C-4141-A1FD-23AD99B7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238125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BCAD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477"/>
                </a:solidFill>
              </a:defRPr>
            </a:pPr>
            <a:r>
              <a:rPr sz="1200" b="1">
                <a:solidFill>
                  <a:srgbClr val="526477"/>
                </a:solidFill>
              </a:rPr>
              <a:t>Separate LangGraph service</a:t>
            </a:r>
          </a:p>
          <a:p xmlns:a="http://schemas.openxmlformats.org/drawingml/2006/main">
            <a:pPr>
              <a:defRPr sz="1200" b="1">
                <a:solidFill>
                  <a:srgbClr val="526477"/>
                </a:solidFill>
              </a:defRPr>
            </a:pPr>
            <a:r>
              <a:rPr sz="1200" b="1">
                <a:solidFill>
                  <a:srgbClr val="526477"/>
                </a:solidFill>
              </a:rPr>
              <a:t>(deployed path değil)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99B9F-A3AC-4964-A995-04D0638C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72000"/>
            <a:ext cx="238125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BCAD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477"/>
                </a:solidFill>
              </a:defRPr>
            </a:pPr>
            <a:r>
              <a:rPr sz="1200" b="1">
                <a:solidFill>
                  <a:srgbClr val="526477"/>
                </a:solidFill>
              </a:rPr>
              <a:t>Separate Chroma RAG service</a:t>
            </a:r>
          </a:p>
          <a:p xmlns:a="http://schemas.openxmlformats.org/drawingml/2006/main">
            <a:pPr>
              <a:defRPr sz="1200" b="1">
                <a:solidFill>
                  <a:srgbClr val="526477"/>
                </a:solidFill>
              </a:defRPr>
            </a:pPr>
            <a:r>
              <a:rPr sz="1200" b="1">
                <a:solidFill>
                  <a:srgbClr val="526477"/>
                </a:solidFill>
              </a:rPr>
              <a:t>(aktif API yolunda değil)</a:t>
            </a:r>
          </a:p>
        </p:txBody>
      </p:sp>
      <p:cxnSp>
        <p:nvCxnSpPr>
          <p:cNvPr id="36" name=""/>
          <p:cNvCxnSpPr>
            <a:stCxn xmlns:a="http://schemas.openxmlformats.org/drawingml/2006/main" id="15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6105525" y="3390900"/>
            <a:ext cx="3810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1A6B8"/>
            </a:solidFill>
            <a:prstDash val="dash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16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8562975" y="3390900"/>
            <a:ext cx="60960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1A6B8"/>
            </a:solidFill>
            <a:prstDash val="dash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42446-7A2B-43AE-9672-E250830F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Ana gözlem: evidence / OKF hattı güçlü; orkestrasyon, retrieval ve event davranışı tek bir aktif runtime altında birleşmiş değil.</a:t>
            </a:r>
          </a:p>
        </p:txBody>
      </p:sp>
    </p:spTree>
    <p:extLst>
      <p:ext uri="{BB962C8B-B14F-4D97-AF65-F5344CB8AC3E}">
        <p14:creationId xmlns:p14="http://schemas.microsoft.com/office/powerpoint/2010/main" val="1187838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5CC9DF-7692-41E2-893D-6CB03142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MEVCUT AGENT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BF470-A20D-48F3-AE46-5EB9D6EB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Pydantic AI bugün specialist agent katmanı olarak çalışıyor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0ABC0-82A4-4359-84F6-8949A3F0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Typed giriş/çıkış ve kanıta bağlı görevler, agent üretimini daha denetlenebilir kılıyor.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A6330-1154-4553-928B-7D22E928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7745F-7B47-4E4B-81ED-FFB35759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BAADD-8429-4901-8A27-DD9B9743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428750" cy="14668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57BEF-B587-4067-8DEE-BAC6E27C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BB3A6-8727-493E-8A40-A0DDBC05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Ingest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6F95A-DA7A-4FEB-B04A-28374594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Raw source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B9FC5-0328-4670-BC2D-16B7813A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19400"/>
            <a:ext cx="1428750" cy="14668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48D95-D63B-43A8-BC1A-33FEF9AA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3AE38-E07B-44D5-B55A-1B9207C7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813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B6016-BA94-4DA5-8230-80FDB428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814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Locator + metric receipt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708BE-7EDB-495E-BFB8-579355C6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19400"/>
            <a:ext cx="1428750" cy="14668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53747-AA5D-4A2D-890C-26E5977E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B47D7-C90D-461B-9372-938C22A5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DE41C-261F-4DBC-AD81-33584B66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814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9F6FF"/>
                </a:solidFill>
              </a:defRPr>
            </a:pPr>
            <a:r>
              <a:rPr sz="1050" b="0">
                <a:solidFill>
                  <a:srgbClr val="E9F6FF"/>
                </a:solidFill>
              </a:rPr>
              <a:t>4 Pydantic specialists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4CF50-B6BD-4713-A18D-625EBA02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1428750" cy="14668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0367B-05EC-4B15-8303-3BDDAFD3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5826B-D096-4BB3-B145-C5D8143B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C0B46-3BAC-45F2-B2DB-776F2653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814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Evidence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C6D246-EF4A-480D-AD87-B6E109B3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19400"/>
            <a:ext cx="1428750" cy="14668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31B561-AA12-4AEB-8560-3341AB19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FC2639-39B9-4600-AF17-52A9B650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Artifact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1DF41-3B7D-43A6-A5BF-86F05723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Candidate OKF /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550312-A8ED-45F7-ABFE-72F14FC5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19400"/>
            <a:ext cx="1428750" cy="14668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DC9AD4-7DF9-4B4D-8000-2490327C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1CBCE9-F15E-4682-896C-842CB75D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813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Approval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1B3A44-8C27-444F-8706-E95FB97E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814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Human decision</a:t>
            </a:r>
          </a:p>
        </p:txBody>
      </p:sp>
      <p:cxnSp>
        <p:nvCxnSpPr>
          <p:cNvPr id="6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14550" y="35528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924300" y="35528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734050" y="35528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543800" y="35528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353550" y="35528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F82750-EBDA-44DE-9894-930E6614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C5EA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1377C9-9637-4D6A-8504-B9FBAD1D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Pydantic AI’nin rolü: specialist agent sözleşmelerini typed tutmak; bu, orkestrasyon motorunun rolü değildir.</a:t>
            </a:r>
          </a:p>
        </p:txBody>
      </p:sp>
    </p:spTree>
    <p:extLst>
      <p:ext uri="{BB962C8B-B14F-4D97-AF65-F5344CB8AC3E}">
        <p14:creationId xmlns:p14="http://schemas.microsoft.com/office/powerpoint/2010/main" val="17212512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389BF-C15B-4183-A97F-FCB35FC2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KIYAS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2E174-5E5A-4127-A795-65D18919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Mevcut yapı → Unified target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E8731-B07F-4016-A247-7934F912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Hedef, her şeyi yeniden yazmak değil; çalışan kanıt katmanını tek bir agent-first runtime altında birleştirmek.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BF6BE-AFF1-408B-91AA-D6A526F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E2ECE-2D9C-4770-9704-A5A7028D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1535A-25AE-412E-84B0-668D42D1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DB743-246C-4037-B5D5-19FFEE09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49530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DE0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19E99-87A2-4397-884B-9740F278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477"/>
                </a:solidFill>
              </a:defRPr>
            </a:pPr>
            <a:r>
              <a:rPr sz="1275" b="1">
                <a:solidFill>
                  <a:srgbClr val="526477"/>
                </a:solidFill>
              </a:rPr>
              <a:t>MEVCUT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D3792-7D2F-4756-9DE9-16091699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384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HEDEF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A03E1-B8AC-4759-A0FF-B986E63C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095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DA196-4969-4480-B473-E98BF0F6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Custom sequential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CB7D7-2DF9-4160-ADCC-C10A4077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4095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15188-776C-43AD-8B9E-F23E22BB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Lexical / optional QMD 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5BAFE-03F1-4633-9133-2E303766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4095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96D96-5BB2-48C0-BEDA-5345C58F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Event, MCP ve tool davranışı parçalı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F2ABD-8A53-47DA-AE83-1AB2F935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48000"/>
            <a:ext cx="4095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A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0A260-B91A-4EC9-9358-64321D6B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LangGraph durable orchestration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5202C7-D697-4EE3-853C-DDAD6E47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52850"/>
            <a:ext cx="4095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A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86BCA-B8E3-4345-B6D8-9A5F213F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PostgreSQL state + Chroma derived 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9C7D6-FBE1-4C34-94EE-BC14B3AF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57700"/>
            <a:ext cx="4095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A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930BC-4FCB-4AD9-A5E0-954F853E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101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Bounded MCP + durable event / worker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E74193-D48F-484F-809C-BE0F4E86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09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719458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2729AC-ACED-4660-9BA9-6F4C0932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HEDEF ÇALIŞMA MODELİ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5B401-2FD9-429E-8518-990043B0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Agent Runtime merkezde; API ve UI onun çevresinde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92C64-2BC5-4C88-87DD-06FC3810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FastAPI kontrol ve policy yüzeyi olur. LangGraph run lifecycle’ını yönetir. Pydantic AI graph node’larında uzmanlık sağlar.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57DA0-6D47-4E6A-B225-C27D7312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4AA12-3F65-4695-B670-0E8B4138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0F7A3-024F-41AA-8FD5-19C3C353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714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UI · webhook</a:t>
            </a:r>
          </a:p>
          <a:p xmlns:a="http://schemas.openxmlformats.org/drawingml/2006/main"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schedule ·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CA1E5-3B79-4FD4-BFFA-94EF9583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66950"/>
            <a:ext cx="185737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BFE8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FastAPI control plane</a:t>
            </a:r>
          </a:p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policy · auth · runs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CD4A6-B5AC-4737-A762-B62B1AA7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66950"/>
            <a:ext cx="166687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1D9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Durable queue</a:t>
            </a:r>
          </a:p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run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B0245-089C-46DD-8674-AC920EEC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76450"/>
            <a:ext cx="2047875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LangGraph runtime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state · retry · pause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B11EF-2A16-4233-81F5-587C9FC1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076450"/>
            <a:ext cx="1133475" cy="1333500"/>
          </a:xfrm>
          <a:prstGeom xmlns:a="http://schemas.openxmlformats.org/drawingml/2006/main" prst="roundRect">
            <a:avLst>
              <a:gd name="adj" fmla="val 1512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Pydantic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AI nodes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Tools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00300" y="27432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57750" y="27432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24700" y="27432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72650" y="27432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8F167-C13F-4601-8840-050CE9B7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2500"/>
            <a:ext cx="1952625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BEEA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PostgreSQL</a:t>
            </a:r>
          </a:p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state · audit ·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461C4-9783-470E-9ADD-44EBCAFD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62500"/>
            <a:ext cx="1952625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OKF / Git</a:t>
            </a:r>
          </a:p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active company knowledge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5958C-38CE-4A68-B8F6-F2A6A825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1952625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Chroma</a:t>
            </a:r>
          </a:p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derived retrieval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9273E-54BF-4166-AF2D-71852B06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762500"/>
            <a:ext cx="1704975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Approved MCP</a:t>
            </a:r>
          </a:p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providers / tools</a:t>
            </a:r>
          </a:p>
        </p:txBody>
      </p:sp>
      <p:cxnSp>
        <p:nvCxnSpPr>
          <p:cNvPr id="41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2576513" y="3409950"/>
            <a:ext cx="61722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9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5310188" y="3409950"/>
            <a:ext cx="3438525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10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043863" y="3409950"/>
            <a:ext cx="28956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0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0653713" y="3409950"/>
            <a:ext cx="28575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042960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287D9-2BA1-400F-AB7B-268E0392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71831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NEDEN BU FRAMEWORKLER?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B65AD-C27F-4B9D-BF3C-251A7F84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Teknoloji seçimi, agent lifecycle sorumluluklarını ayırmak için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6422F-4633-45AA-AAC0-C4F21254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Her bileşen tek bir işi iyi yapar; bunlar birbirinin alternatifi değildir.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48862-197B-440B-82C8-01F02E94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778E5-DA21-4073-B3C1-53679A34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E67C7-13EB-41C4-8441-4577BDA5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3147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25597-F7C7-4B58-B61A-7F50A0F9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FastAPI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CB854-10E8-4625-A664-3C0A5B99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Control plane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A829B-6C7D-4891-AEEC-BED99B45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API, kimlik, policy, run yönetimi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16527-14B8-490D-80AB-DE66CE86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33147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EEF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974A0-7A3B-4C1C-B7F7-28E4F0C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90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LangGraph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B0E99-37B1-48A3-B8A7-6CA88277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Orchestration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1A3E7-EB45-4398-B79F-9878B5BE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290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State, checkpoint, pause/resume, retry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99329-1B9F-4669-BDBE-1C68A4E5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33147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EAF8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B25E2-0EAC-4693-9E1B-4B64D77D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90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9D7A"/>
                </a:solidFill>
              </a:defRPr>
            </a:pPr>
            <a:r>
              <a:rPr sz="2100" b="1">
                <a:solidFill>
                  <a:srgbClr val="1F9D7A"/>
                </a:solidFill>
              </a:rPr>
              <a:t>Pydantic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01E2C-7919-43A3-8C2B-7890B262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Agent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3427E-EB04-46F9-AF23-C7D9630A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290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Typed outputs, dependency ve tool scoping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227D2-155C-45CD-BC3B-C1B7713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F965C-9B22-431A-8E16-F2A67695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Memory &amp; knowledge: PostgreSQL (operational truth) + OKF (portable knowledge) + Chroma (disposable derived retrieval).</a:t>
            </a:r>
          </a:p>
        </p:txBody>
      </p:sp>
    </p:spTree>
    <p:extLst>
      <p:ext uri="{BB962C8B-B14F-4D97-AF65-F5344CB8AC3E}">
        <p14:creationId xmlns:p14="http://schemas.microsoft.com/office/powerpoint/2010/main" val="14563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619293-B49B-431A-9CED-D3AF9CE1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GEÇİŞ YAKLAŞIMI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4703A-9B86-4BD3-B2B9-A8D8E42A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Küçük, geri alınabilir ve çalışan PR’larla ilerleme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EA851-7BAD-4BBC-A60E-5383DBA1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UI en sona gelir; önce runtime davranışı ve doğrulanabilirlik stabil hale getirilir.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D3725-0B64-47F9-B63C-9E1AF7CD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07B7F-AE45-4C8B-A363-786F2617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D6244-FE73-4200-B6DF-EDEA6D40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6954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9139C-993D-4ED6-80FF-D9EC70FD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C4C54-A05C-4EBF-ABF3-B89AC827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337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FAAFA-A132-40D4-8BF4-019E446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3D227-8D73-44FC-9AAE-F81A75D2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Contracts &amp; run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F41CC-3BDF-4BA2-B8CC-F449376C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57500"/>
            <a:ext cx="16954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3C25C-F672-4E06-99A2-0B3B22B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67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0642A-BE55-4C13-8BA1-AC0D167B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337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A7387-ADE4-4287-8E97-21BCE09C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528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Active 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E5B53-F419-4E7F-B7B0-C7A6C721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76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LangGraph parity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DDE45-DA95-426A-B1AD-DAA6F049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16954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F74E4-70CF-42D8-B391-D6A60D33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67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D0FAB-7F0F-4791-8038-D7A1C8B7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337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0A7E2-3BE2-42F9-B98B-148099A3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528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Context / 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1740C-CF36-4448-AB53-EBCF0D8A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76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Evidence-aware retrieval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18E60-1236-41CA-8D3D-2AD86B9E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16954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84865-5B6D-489C-9BB3-C72BA858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D68EBA-2BF4-41F2-BA96-AB58E60D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337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700B5A-8DB7-4F48-A47F-DCDC1E9B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528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MCP / Events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A9777-D78E-4193-BB81-FE4A996A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76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Bounded async execution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D1A8A6-5063-4116-A222-57BCCF16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16954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95A016-FD04-417E-93CC-83F05C06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212C9D-0B46-46BD-AEBF-E5699096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337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E2BDD8-874F-42D9-A0FF-4FA608C5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528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UI /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8746D4-C484-4CB6-BCF0-7538F3F2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76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Control panel integration</a:t>
            </a:r>
          </a:p>
        </p:txBody>
      </p:sp>
      <p:cxnSp>
        <p:nvCxnSpPr>
          <p:cNvPr id="66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81250" y="3686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533900" y="3686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686550" y="3686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21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839200" y="3686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21D4E3-3DEF-4536-8554-17A772A0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Her faz: 2–6 saat · tek PR · working state · bağımsız doğrulama · kolay rollback</a:t>
            </a:r>
          </a:p>
        </p:txBody>
      </p:sp>
    </p:spTree>
    <p:extLst>
      <p:ext uri="{BB962C8B-B14F-4D97-AF65-F5344CB8AC3E}">
        <p14:creationId xmlns:p14="http://schemas.microsoft.com/office/powerpoint/2010/main" val="15679971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6D01A-DBE1-4EBF-ABA3-B8F85DEB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552"/>
          </a:solidFill>
          <a:ln xmlns:a="http://schemas.openxmlformats.org/drawingml/2006/main" w="9525">
            <a:solidFill>
              <a:srgbClr val="1635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DCBF4"/>
                </a:solidFill>
              </a:defRPr>
            </a:pPr>
            <a:r>
              <a:rPr sz="900" b="1">
                <a:solidFill>
                  <a:srgbClr val="6DCBF4"/>
                </a:solidFill>
              </a:rPr>
              <a:t>MEETING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2F8F8-237C-4974-81B2-1C19E2D8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Web UI bir kontrol yüzeyidir.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Intelligence engine, agent runtime’dır.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043C2-D526-4A08-9267-835AA7EC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63552"/>
          </a:solidFill>
          <a:ln xmlns:a="http://schemas.openxmlformats.org/drawingml/2006/main" w="9525">
            <a:solidFill>
              <a:srgbClr val="24476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BE7D7-0215-436A-8DB0-06133108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DCBF4"/>
                </a:solidFill>
              </a:defRPr>
            </a:pPr>
            <a:r>
              <a:rPr sz="1575" b="1">
                <a:solidFill>
                  <a:srgbClr val="6DCBF4"/>
                </a:solidFill>
              </a:rPr>
              <a:t>Protect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CA0D0-D40B-4F2A-B983-A88A5C62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Evidence + approval + company knowledge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B535C-7922-426E-AB25-9265C468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3238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63552"/>
          </a:solidFill>
          <a:ln xmlns:a="http://schemas.openxmlformats.org/drawingml/2006/main" w="9525">
            <a:solidFill>
              <a:srgbClr val="2447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D1E63-2FB8-47D3-AD77-6BCF21B1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DCBF4"/>
                </a:solidFill>
              </a:defRPr>
            </a:pPr>
            <a:r>
              <a:rPr sz="1575" b="1">
                <a:solidFill>
                  <a:srgbClr val="6DCBF4"/>
                </a:solidFill>
              </a:rPr>
              <a:t>Unify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94AE6-5BFB-4837-85D2-814E74D1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38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Runtime + memory + tools + 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956A9-2B09-49C6-8CDB-36BAF27B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238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63552"/>
          </a:solidFill>
          <a:ln xmlns:a="http://schemas.openxmlformats.org/drawingml/2006/main" w="9525">
            <a:solidFill>
              <a:srgbClr val="2447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23857-3BAA-43A9-BEF0-F1198EA0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DCBF4"/>
                </a:solidFill>
              </a:defRPr>
            </a:pPr>
            <a:r>
              <a:rPr sz="1575" b="1">
                <a:solidFill>
                  <a:srgbClr val="6DCBF4"/>
                </a:solidFill>
              </a:rPr>
              <a:t>Operate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310AE-56E7-4BE5-B163-6F9558ED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Visible runs, checkpoints and governed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FF0B1-AB11-4107-8EE6-001AE773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CDED"/>
                </a:solidFill>
              </a:defRPr>
            </a:pPr>
            <a:r>
              <a:rPr sz="1350" b="0">
                <a:solidFill>
                  <a:srgbClr val="9ECDED"/>
                </a:solidFill>
              </a:rPr>
              <a:t>Karar çerçevesi: minimum değişiklikle, kanıta dayalı agent-first çalışma modeline geçiş.</a:t>
            </a:r>
          </a:p>
        </p:txBody>
      </p:sp>
    </p:spTree>
    <p:extLst>
      <p:ext uri="{BB962C8B-B14F-4D97-AF65-F5344CB8AC3E}">
        <p14:creationId xmlns:p14="http://schemas.microsoft.com/office/powerpoint/2010/main" val="1378848030"/>
      </p:ext>
    </p:extLst>
  </p:cSld>
</p:sld>
</file>

<file path=ppt/theme/theme1.xml><?xml version="1.0" encoding="utf-8"?>
<a:theme xmlns:a="http://schemas.openxmlformats.org/drawingml/2006/main" name="ChatGPT">
  <a:themeElements>
    <a:clrScheme name="AGI Clean">
      <a:dk1>
        <a:srgbClr val="000000"/>
      </a:dk1>
      <a:lt1>
        <a:srgbClr val="FFFFFF"/>
      </a:lt1>
      <a:dk2>
        <a:srgbClr val="0D1B2A"/>
      </a:dk2>
      <a:lt2>
        <a:srgbClr val="EEF3F7"/>
      </a:lt2>
      <a:accent1>
        <a:srgbClr val="3D8DFF"/>
      </a:accent1>
      <a:accent2>
        <a:srgbClr val="1F9D7A"/>
      </a:accent2>
      <a:accent3>
        <a:srgbClr val="C47B12"/>
      </a:accent3>
      <a:accent4>
        <a:srgbClr val="B94A48"/>
      </a:accent4>
      <a:accent5>
        <a:srgbClr val="6DCBF4"/>
      </a:accent5>
      <a:accent6>
        <a:srgbClr val="7C5CFC"/>
      </a:accent6>
      <a:hlink>
        <a:srgbClr val="3D8DFF"/>
      </a:hlink>
      <a:folHlink>
        <a:srgbClr val="7C5CF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GI Cle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2026-07-24T15:57:44.9340000Z</dcterms:created>
  <dcterms:modified xsi:type="dcterms:W3CDTF">2026-07-24T15:57:44.9350000Z</dcterms:modified>
</coreProperties>
</file>